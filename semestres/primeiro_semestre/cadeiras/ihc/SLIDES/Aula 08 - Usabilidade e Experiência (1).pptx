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5" r:id="rId1"/>
  </p:sldMasterIdLst>
  <p:notesMasterIdLst>
    <p:notesMasterId r:id="rId37"/>
  </p:notesMasterIdLst>
  <p:sldIdLst>
    <p:sldId id="256" r:id="rId2"/>
    <p:sldId id="260" r:id="rId3"/>
    <p:sldId id="322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40" r:id="rId15"/>
    <p:sldId id="261" r:id="rId16"/>
    <p:sldId id="285" r:id="rId17"/>
    <p:sldId id="286" r:id="rId18"/>
    <p:sldId id="287" r:id="rId19"/>
    <p:sldId id="288" r:id="rId20"/>
    <p:sldId id="290" r:id="rId21"/>
    <p:sldId id="291" r:id="rId22"/>
    <p:sldId id="292" r:id="rId23"/>
    <p:sldId id="304" r:id="rId24"/>
    <p:sldId id="293" r:id="rId25"/>
    <p:sldId id="305" r:id="rId26"/>
    <p:sldId id="294" r:id="rId27"/>
    <p:sldId id="306" r:id="rId28"/>
    <p:sldId id="333" r:id="rId29"/>
    <p:sldId id="334" r:id="rId30"/>
    <p:sldId id="335" r:id="rId31"/>
    <p:sldId id="336" r:id="rId32"/>
    <p:sldId id="337" r:id="rId33"/>
    <p:sldId id="338" r:id="rId34"/>
    <p:sldId id="339" r:id="rId35"/>
    <p:sldId id="258" r:id="rId36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66"/>
    <a:srgbClr val="DDEAF7"/>
    <a:srgbClr val="F2F7FC"/>
    <a:srgbClr val="AA71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996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grid Monteiro" userId="4f1f53ea42604cf1" providerId="LiveId" clId="{5DA899BD-D651-4BC8-9FD4-05906B6D67BD}"/>
    <pc:docChg chg="modSld">
      <pc:chgData name="Ingrid Monteiro" userId="4f1f53ea42604cf1" providerId="LiveId" clId="{5DA899BD-D651-4BC8-9FD4-05906B6D67BD}" dt="2019-03-24T02:46:15.702" v="3" actId="20577"/>
      <pc:docMkLst>
        <pc:docMk/>
      </pc:docMkLst>
      <pc:sldChg chg="modSp">
        <pc:chgData name="Ingrid Monteiro" userId="4f1f53ea42604cf1" providerId="LiveId" clId="{5DA899BD-D651-4BC8-9FD4-05906B6D67BD}" dt="2019-03-24T02:46:15.702" v="3" actId="20577"/>
        <pc:sldMkLst>
          <pc:docMk/>
          <pc:sldMk cId="3716830568" sldId="256"/>
        </pc:sldMkLst>
        <pc:spChg chg="mod">
          <ac:chgData name="Ingrid Monteiro" userId="4f1f53ea42604cf1" providerId="LiveId" clId="{5DA899BD-D651-4BC8-9FD4-05906B6D67BD}" dt="2019-03-24T02:46:10.167" v="0" actId="6549"/>
          <ac:spMkLst>
            <pc:docMk/>
            <pc:sldMk cId="3716830568" sldId="256"/>
            <ac:spMk id="2" creationId="{00000000-0000-0000-0000-000000000000}"/>
          </ac:spMkLst>
        </pc:spChg>
        <pc:spChg chg="mod">
          <ac:chgData name="Ingrid Monteiro" userId="4f1f53ea42604cf1" providerId="LiveId" clId="{5DA899BD-D651-4BC8-9FD4-05906B6D67BD}" dt="2019-03-24T02:46:15.702" v="3" actId="20577"/>
          <ac:spMkLst>
            <pc:docMk/>
            <pc:sldMk cId="3716830568" sldId="256"/>
            <ac:spMk id="3" creationId="{00000000-0000-0000-0000-000000000000}"/>
          </ac:spMkLst>
        </pc:spChg>
      </pc:sldChg>
    </pc:docChg>
  </pc:docChgLst>
  <pc:docChgLst>
    <pc:chgData name="Ingrid Monteiro" userId="4f1f53ea42604cf1" providerId="LiveId" clId="{577FB2F9-F6BD-4E11-BCAE-58F7C843894E}"/>
    <pc:docChg chg="custSel modSld modMainMaster">
      <pc:chgData name="Ingrid Monteiro" userId="4f1f53ea42604cf1" providerId="LiveId" clId="{577FB2F9-F6BD-4E11-BCAE-58F7C843894E}" dt="2019-09-09T02:53:42.552" v="7" actId="478"/>
      <pc:docMkLst>
        <pc:docMk/>
      </pc:docMkLst>
      <pc:sldChg chg="addSp delSp modSp">
        <pc:chgData name="Ingrid Monteiro" userId="4f1f53ea42604cf1" providerId="LiveId" clId="{577FB2F9-F6BD-4E11-BCAE-58F7C843894E}" dt="2019-09-09T02:53:20.861" v="4"/>
        <pc:sldMkLst>
          <pc:docMk/>
          <pc:sldMk cId="4231702699" sldId="258"/>
        </pc:sldMkLst>
        <pc:spChg chg="add del mod">
          <ac:chgData name="Ingrid Monteiro" userId="4f1f53ea42604cf1" providerId="LiveId" clId="{577FB2F9-F6BD-4E11-BCAE-58F7C843894E}" dt="2019-09-09T02:53:20.861" v="4"/>
          <ac:spMkLst>
            <pc:docMk/>
            <pc:sldMk cId="4231702699" sldId="258"/>
            <ac:spMk id="3" creationId="{9D00EA6B-AC45-42A6-B3A1-7EC29DCE4869}"/>
          </ac:spMkLst>
        </pc:spChg>
        <pc:spChg chg="add del mod">
          <ac:chgData name="Ingrid Monteiro" userId="4f1f53ea42604cf1" providerId="LiveId" clId="{577FB2F9-F6BD-4E11-BCAE-58F7C843894E}" dt="2019-09-09T02:53:20.861" v="4"/>
          <ac:spMkLst>
            <pc:docMk/>
            <pc:sldMk cId="4231702699" sldId="258"/>
            <ac:spMk id="4" creationId="{917B6837-8496-4034-9C60-FA6E18F63715}"/>
          </ac:spMkLst>
        </pc:spChg>
      </pc:sldChg>
      <pc:sldChg chg="modSp">
        <pc:chgData name="Ingrid Monteiro" userId="4f1f53ea42604cf1" providerId="LiveId" clId="{577FB2F9-F6BD-4E11-BCAE-58F7C843894E}" dt="2019-09-09T02:52:34.733" v="2" actId="1076"/>
        <pc:sldMkLst>
          <pc:docMk/>
          <pc:sldMk cId="339600975" sldId="285"/>
        </pc:sldMkLst>
        <pc:spChg chg="mod">
          <ac:chgData name="Ingrid Monteiro" userId="4f1f53ea42604cf1" providerId="LiveId" clId="{577FB2F9-F6BD-4E11-BCAE-58F7C843894E}" dt="2019-09-09T02:52:34.733" v="2" actId="1076"/>
          <ac:spMkLst>
            <pc:docMk/>
            <pc:sldMk cId="339600975" sldId="285"/>
            <ac:spMk id="7" creationId="{00000000-0000-0000-0000-000000000000}"/>
          </ac:spMkLst>
        </pc:spChg>
      </pc:sldChg>
      <pc:sldChg chg="modSp">
        <pc:chgData name="Ingrid Monteiro" userId="4f1f53ea42604cf1" providerId="LiveId" clId="{577FB2F9-F6BD-4E11-BCAE-58F7C843894E}" dt="2019-09-09T02:51:28.306" v="1" actId="27636"/>
        <pc:sldMkLst>
          <pc:docMk/>
          <pc:sldMk cId="3033024731" sldId="339"/>
        </pc:sldMkLst>
        <pc:spChg chg="mod">
          <ac:chgData name="Ingrid Monteiro" userId="4f1f53ea42604cf1" providerId="LiveId" clId="{577FB2F9-F6BD-4E11-BCAE-58F7C843894E}" dt="2019-09-09T02:51:28.306" v="1" actId="27636"/>
          <ac:spMkLst>
            <pc:docMk/>
            <pc:sldMk cId="3033024731" sldId="339"/>
            <ac:spMk id="3" creationId="{00000000-0000-0000-0000-000000000000}"/>
          </ac:spMkLst>
        </pc:spChg>
      </pc:sldChg>
      <pc:sldMasterChg chg="modSldLayout">
        <pc:chgData name="Ingrid Monteiro" userId="4f1f53ea42604cf1" providerId="LiveId" clId="{577FB2F9-F6BD-4E11-BCAE-58F7C843894E}" dt="2019-09-09T02:53:42.552" v="7" actId="478"/>
        <pc:sldMasterMkLst>
          <pc:docMk/>
          <pc:sldMasterMk cId="4225836054" sldId="2147483735"/>
        </pc:sldMasterMkLst>
        <pc:sldLayoutChg chg="addSp delSp">
          <pc:chgData name="Ingrid Monteiro" userId="4f1f53ea42604cf1" providerId="LiveId" clId="{577FB2F9-F6BD-4E11-BCAE-58F7C843894E}" dt="2019-09-09T02:53:33.682" v="5" actId="478"/>
          <pc:sldLayoutMkLst>
            <pc:docMk/>
            <pc:sldMasterMk cId="4225836054" sldId="2147483735"/>
            <pc:sldLayoutMk cId="2211021853" sldId="2147483739"/>
          </pc:sldLayoutMkLst>
          <pc:picChg chg="add del">
            <ac:chgData name="Ingrid Monteiro" userId="4f1f53ea42604cf1" providerId="LiveId" clId="{577FB2F9-F6BD-4E11-BCAE-58F7C843894E}" dt="2019-09-09T02:53:33.682" v="5" actId="478"/>
            <ac:picMkLst>
              <pc:docMk/>
              <pc:sldMasterMk cId="4225836054" sldId="2147483735"/>
              <pc:sldLayoutMk cId="2211021853" sldId="2147483739"/>
              <ac:picMk id="8" creationId="{92FD77CE-9C89-4CD9-BCD4-8B92D94356CC}"/>
            </ac:picMkLst>
          </pc:picChg>
        </pc:sldLayoutChg>
        <pc:sldLayoutChg chg="addSp delSp">
          <pc:chgData name="Ingrid Monteiro" userId="4f1f53ea42604cf1" providerId="LiveId" clId="{577FB2F9-F6BD-4E11-BCAE-58F7C843894E}" dt="2019-09-09T02:53:37.991" v="6" actId="478"/>
          <pc:sldLayoutMkLst>
            <pc:docMk/>
            <pc:sldMasterMk cId="4225836054" sldId="2147483735"/>
            <pc:sldLayoutMk cId="1290100515" sldId="2147483740"/>
          </pc:sldLayoutMkLst>
          <pc:picChg chg="add del">
            <ac:chgData name="Ingrid Monteiro" userId="4f1f53ea42604cf1" providerId="LiveId" clId="{577FB2F9-F6BD-4E11-BCAE-58F7C843894E}" dt="2019-09-09T02:53:37.991" v="6" actId="478"/>
            <ac:picMkLst>
              <pc:docMk/>
              <pc:sldMasterMk cId="4225836054" sldId="2147483735"/>
              <pc:sldLayoutMk cId="1290100515" sldId="2147483740"/>
              <ac:picMk id="10" creationId="{5748C16E-9EE9-4DEF-AAAA-97D1093D9027}"/>
            </ac:picMkLst>
          </pc:picChg>
        </pc:sldLayoutChg>
        <pc:sldLayoutChg chg="addSp delSp">
          <pc:chgData name="Ingrid Monteiro" userId="4f1f53ea42604cf1" providerId="LiveId" clId="{577FB2F9-F6BD-4E11-BCAE-58F7C843894E}" dt="2019-09-09T02:53:42.552" v="7" actId="478"/>
          <pc:sldLayoutMkLst>
            <pc:docMk/>
            <pc:sldMasterMk cId="4225836054" sldId="2147483735"/>
            <pc:sldLayoutMk cId="2100648459" sldId="2147483743"/>
          </pc:sldLayoutMkLst>
          <pc:picChg chg="add del">
            <ac:chgData name="Ingrid Monteiro" userId="4f1f53ea42604cf1" providerId="LiveId" clId="{577FB2F9-F6BD-4E11-BCAE-58F7C843894E}" dt="2019-09-09T02:53:42.552" v="7" actId="478"/>
            <ac:picMkLst>
              <pc:docMk/>
              <pc:sldMasterMk cId="4225836054" sldId="2147483735"/>
              <pc:sldLayoutMk cId="2100648459" sldId="2147483743"/>
              <ac:picMk id="8" creationId="{68DDD852-FB33-4833-9AFC-E604685A9BF1}"/>
            </ac:picMkLst>
          </pc:picChg>
        </pc:sldLayoutChg>
      </pc:sldMasterChg>
    </pc:docChg>
  </pc:docChgLst>
  <pc:docChgLst>
    <pc:chgData name="Ingrid Monteiro" userId="4f1f53ea42604cf1" providerId="LiveId" clId="{9B0287FB-0DDE-434F-B82A-499A4F46344B}"/>
    <pc:docChg chg="modSld">
      <pc:chgData name="Ingrid Monteiro" userId="4f1f53ea42604cf1" providerId="LiveId" clId="{9B0287FB-0DDE-434F-B82A-499A4F46344B}" dt="2023-05-05T16:39:24.995" v="1" actId="13926"/>
      <pc:docMkLst>
        <pc:docMk/>
      </pc:docMkLst>
      <pc:sldChg chg="modSp mod">
        <pc:chgData name="Ingrid Monteiro" userId="4f1f53ea42604cf1" providerId="LiveId" clId="{9B0287FB-0DDE-434F-B82A-499A4F46344B}" dt="2023-05-05T16:39:24.995" v="1" actId="13926"/>
        <pc:sldMkLst>
          <pc:docMk/>
          <pc:sldMk cId="1792634020" sldId="327"/>
        </pc:sldMkLst>
        <pc:spChg chg="mod">
          <ac:chgData name="Ingrid Monteiro" userId="4f1f53ea42604cf1" providerId="LiveId" clId="{9B0287FB-0DDE-434F-B82A-499A4F46344B}" dt="2023-05-05T16:39:24.995" v="1" actId="13926"/>
          <ac:spMkLst>
            <pc:docMk/>
            <pc:sldMk cId="1792634020" sldId="327"/>
            <ac:spMk id="2" creationId="{00000000-0000-0000-0000-000000000000}"/>
          </ac:spMkLst>
        </pc:spChg>
      </pc:sldChg>
    </pc:docChg>
  </pc:docChgLst>
  <pc:docChgLst>
    <pc:chgData name="Ingrid Monteiro" userId="4f1f53ea42604cf1" providerId="LiveId" clId="{308810BD-732C-4BF9-97E5-CA17A7E78768}"/>
    <pc:docChg chg="modSld sldOrd">
      <pc:chgData name="Ingrid Monteiro" userId="4f1f53ea42604cf1" providerId="LiveId" clId="{308810BD-732C-4BF9-97E5-CA17A7E78768}" dt="2023-10-26T13:18:34.806" v="9"/>
      <pc:docMkLst>
        <pc:docMk/>
      </pc:docMkLst>
      <pc:sldChg chg="modSp mod">
        <pc:chgData name="Ingrid Monteiro" userId="4f1f53ea42604cf1" providerId="LiveId" clId="{308810BD-732C-4BF9-97E5-CA17A7E78768}" dt="2023-10-25T20:18:57.103" v="5" actId="13926"/>
        <pc:sldMkLst>
          <pc:docMk/>
          <pc:sldMk cId="1855125681" sldId="290"/>
        </pc:sldMkLst>
        <pc:spChg chg="mod">
          <ac:chgData name="Ingrid Monteiro" userId="4f1f53ea42604cf1" providerId="LiveId" clId="{308810BD-732C-4BF9-97E5-CA17A7E78768}" dt="2023-10-25T20:18:57.103" v="5" actId="13926"/>
          <ac:spMkLst>
            <pc:docMk/>
            <pc:sldMk cId="1855125681" sldId="290"/>
            <ac:spMk id="2" creationId="{00000000-0000-0000-0000-000000000000}"/>
          </ac:spMkLst>
        </pc:spChg>
      </pc:sldChg>
      <pc:sldChg chg="modSp mod">
        <pc:chgData name="Ingrid Monteiro" userId="4f1f53ea42604cf1" providerId="LiveId" clId="{308810BD-732C-4BF9-97E5-CA17A7E78768}" dt="2023-10-06T12:54:16.799" v="3" actId="13926"/>
        <pc:sldMkLst>
          <pc:docMk/>
          <pc:sldMk cId="2194524618" sldId="329"/>
        </pc:sldMkLst>
        <pc:spChg chg="mod">
          <ac:chgData name="Ingrid Monteiro" userId="4f1f53ea42604cf1" providerId="LiveId" clId="{308810BD-732C-4BF9-97E5-CA17A7E78768}" dt="2023-10-06T12:54:16.799" v="3" actId="13926"/>
          <ac:spMkLst>
            <pc:docMk/>
            <pc:sldMk cId="2194524618" sldId="329"/>
            <ac:spMk id="2" creationId="{00000000-0000-0000-0000-000000000000}"/>
          </ac:spMkLst>
        </pc:spChg>
      </pc:sldChg>
      <pc:sldChg chg="ord">
        <pc:chgData name="Ingrid Monteiro" userId="4f1f53ea42604cf1" providerId="LiveId" clId="{308810BD-732C-4BF9-97E5-CA17A7E78768}" dt="2023-10-26T13:18:34.806" v="9"/>
        <pc:sldMkLst>
          <pc:docMk/>
          <pc:sldMk cId="1996396659" sldId="338"/>
        </pc:sldMkLst>
      </pc:sldChg>
      <pc:sldChg chg="ord">
        <pc:chgData name="Ingrid Monteiro" userId="4f1f53ea42604cf1" providerId="LiveId" clId="{308810BD-732C-4BF9-97E5-CA17A7E78768}" dt="2023-10-26T13:18:30.601" v="7"/>
        <pc:sldMkLst>
          <pc:docMk/>
          <pc:sldMk cId="277368193" sldId="339"/>
        </pc:sldMkLst>
      </pc:sldChg>
      <pc:sldChg chg="modSp mod">
        <pc:chgData name="Ingrid Monteiro" userId="4f1f53ea42604cf1" providerId="LiveId" clId="{308810BD-732C-4BF9-97E5-CA17A7E78768}" dt="2023-10-25T20:18:37.252" v="4" actId="13926"/>
        <pc:sldMkLst>
          <pc:docMk/>
          <pc:sldMk cId="3166014613" sldId="340"/>
        </pc:sldMkLst>
        <pc:spChg chg="mod">
          <ac:chgData name="Ingrid Monteiro" userId="4f1f53ea42604cf1" providerId="LiveId" clId="{308810BD-732C-4BF9-97E5-CA17A7E78768}" dt="2023-10-25T20:18:37.252" v="4" actId="13926"/>
          <ac:spMkLst>
            <pc:docMk/>
            <pc:sldMk cId="3166014613" sldId="340"/>
            <ac:spMk id="2" creationId="{00000000-0000-0000-0000-000000000000}"/>
          </ac:spMkLst>
        </pc:spChg>
      </pc:sldChg>
    </pc:docChg>
  </pc:docChgLst>
  <pc:docChgLst>
    <pc:chgData name="Ingrid Monteiro" userId="4f1f53ea42604cf1" providerId="LiveId" clId="{AD2D77C3-DFF6-4BDC-BC7D-032C8A00A961}"/>
    <pc:docChg chg="addSld delSld modSld modShowInfo">
      <pc:chgData name="Ingrid Monteiro" userId="4f1f53ea42604cf1" providerId="LiveId" clId="{AD2D77C3-DFF6-4BDC-BC7D-032C8A00A961}" dt="2022-10-06T10:56:37.052" v="4"/>
      <pc:docMkLst>
        <pc:docMk/>
      </pc:docMkLst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716830568" sldId="256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4231702699" sldId="258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256802738" sldId="260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1742844932" sldId="261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39600975" sldId="285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2893668975" sldId="286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633283931" sldId="287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1560213244" sldId="288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1855125681" sldId="290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1856743083" sldId="291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2823166888" sldId="292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782355537" sldId="293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2238394927" sldId="294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285207964" sldId="304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2887371026" sldId="305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595413018" sldId="306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4259487082" sldId="322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787243850" sldId="323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065927649" sldId="324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700503505" sldId="325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1400523077" sldId="326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1792634020" sldId="327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1773518417" sldId="328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2194524618" sldId="329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2310466972" sldId="330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941800541" sldId="331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755948576" sldId="332"/>
        </pc:sldMkLst>
      </pc:sldChg>
      <pc:sldChg chg="add">
        <pc:chgData name="Ingrid Monteiro" userId="4f1f53ea42604cf1" providerId="LiveId" clId="{AD2D77C3-DFF6-4BDC-BC7D-032C8A00A961}" dt="2022-10-06T10:56:37.052" v="4"/>
        <pc:sldMkLst>
          <pc:docMk/>
          <pc:sldMk cId="456338649" sldId="333"/>
        </pc:sldMkLst>
      </pc:sldChg>
      <pc:sldChg chg="del modTransition">
        <pc:chgData name="Ingrid Monteiro" userId="4f1f53ea42604cf1" providerId="LiveId" clId="{AD2D77C3-DFF6-4BDC-BC7D-032C8A00A961}" dt="2022-10-06T10:56:31.203" v="3" actId="2696"/>
        <pc:sldMkLst>
          <pc:docMk/>
          <pc:sldMk cId="1471042887" sldId="333"/>
        </pc:sldMkLst>
      </pc:sldChg>
      <pc:sldChg chg="del modTransition">
        <pc:chgData name="Ingrid Monteiro" userId="4f1f53ea42604cf1" providerId="LiveId" clId="{AD2D77C3-DFF6-4BDC-BC7D-032C8A00A961}" dt="2022-10-06T10:56:31.203" v="3" actId="2696"/>
        <pc:sldMkLst>
          <pc:docMk/>
          <pc:sldMk cId="204856920" sldId="334"/>
        </pc:sldMkLst>
      </pc:sldChg>
      <pc:sldChg chg="add">
        <pc:chgData name="Ingrid Monteiro" userId="4f1f53ea42604cf1" providerId="LiveId" clId="{AD2D77C3-DFF6-4BDC-BC7D-032C8A00A961}" dt="2022-10-06T10:56:37.052" v="4"/>
        <pc:sldMkLst>
          <pc:docMk/>
          <pc:sldMk cId="2589628824" sldId="334"/>
        </pc:sldMkLst>
      </pc:sldChg>
      <pc:sldChg chg="del modTransition">
        <pc:chgData name="Ingrid Monteiro" userId="4f1f53ea42604cf1" providerId="LiveId" clId="{AD2D77C3-DFF6-4BDC-BC7D-032C8A00A961}" dt="2022-10-06T10:56:31.203" v="3" actId="2696"/>
        <pc:sldMkLst>
          <pc:docMk/>
          <pc:sldMk cId="3729974424" sldId="335"/>
        </pc:sldMkLst>
      </pc:sldChg>
      <pc:sldChg chg="add">
        <pc:chgData name="Ingrid Monteiro" userId="4f1f53ea42604cf1" providerId="LiveId" clId="{AD2D77C3-DFF6-4BDC-BC7D-032C8A00A961}" dt="2022-10-06T10:56:37.052" v="4"/>
        <pc:sldMkLst>
          <pc:docMk/>
          <pc:sldMk cId="3757249853" sldId="335"/>
        </pc:sldMkLst>
      </pc:sldChg>
      <pc:sldChg chg="add">
        <pc:chgData name="Ingrid Monteiro" userId="4f1f53ea42604cf1" providerId="LiveId" clId="{AD2D77C3-DFF6-4BDC-BC7D-032C8A00A961}" dt="2022-10-06T10:56:37.052" v="4"/>
        <pc:sldMkLst>
          <pc:docMk/>
          <pc:sldMk cId="258370464" sldId="336"/>
        </pc:sldMkLst>
      </pc:sldChg>
      <pc:sldChg chg="del modTransition">
        <pc:chgData name="Ingrid Monteiro" userId="4f1f53ea42604cf1" providerId="LiveId" clId="{AD2D77C3-DFF6-4BDC-BC7D-032C8A00A961}" dt="2022-10-06T10:56:31.203" v="3" actId="2696"/>
        <pc:sldMkLst>
          <pc:docMk/>
          <pc:sldMk cId="1185360326" sldId="336"/>
        </pc:sldMkLst>
      </pc:sldChg>
      <pc:sldChg chg="add">
        <pc:chgData name="Ingrid Monteiro" userId="4f1f53ea42604cf1" providerId="LiveId" clId="{AD2D77C3-DFF6-4BDC-BC7D-032C8A00A961}" dt="2022-10-06T10:56:37.052" v="4"/>
        <pc:sldMkLst>
          <pc:docMk/>
          <pc:sldMk cId="832357148" sldId="337"/>
        </pc:sldMkLst>
      </pc:sldChg>
      <pc:sldChg chg="del modTransition">
        <pc:chgData name="Ingrid Monteiro" userId="4f1f53ea42604cf1" providerId="LiveId" clId="{AD2D77C3-DFF6-4BDC-BC7D-032C8A00A961}" dt="2022-10-06T10:56:31.203" v="3" actId="2696"/>
        <pc:sldMkLst>
          <pc:docMk/>
          <pc:sldMk cId="4067709280" sldId="337"/>
        </pc:sldMkLst>
      </pc:sldChg>
      <pc:sldChg chg="del modTransition">
        <pc:chgData name="Ingrid Monteiro" userId="4f1f53ea42604cf1" providerId="LiveId" clId="{AD2D77C3-DFF6-4BDC-BC7D-032C8A00A961}" dt="2022-10-06T10:56:31.203" v="3" actId="2696"/>
        <pc:sldMkLst>
          <pc:docMk/>
          <pc:sldMk cId="62909126" sldId="338"/>
        </pc:sldMkLst>
      </pc:sldChg>
      <pc:sldChg chg="add">
        <pc:chgData name="Ingrid Monteiro" userId="4f1f53ea42604cf1" providerId="LiveId" clId="{AD2D77C3-DFF6-4BDC-BC7D-032C8A00A961}" dt="2022-10-06T10:56:37.052" v="4"/>
        <pc:sldMkLst>
          <pc:docMk/>
          <pc:sldMk cId="1996396659" sldId="338"/>
        </pc:sldMkLst>
      </pc:sldChg>
      <pc:sldChg chg="add">
        <pc:chgData name="Ingrid Monteiro" userId="4f1f53ea42604cf1" providerId="LiveId" clId="{AD2D77C3-DFF6-4BDC-BC7D-032C8A00A961}" dt="2022-10-06T10:56:37.052" v="4"/>
        <pc:sldMkLst>
          <pc:docMk/>
          <pc:sldMk cId="277368193" sldId="339"/>
        </pc:sldMkLst>
      </pc:sldChg>
      <pc:sldChg chg="del modTransition">
        <pc:chgData name="Ingrid Monteiro" userId="4f1f53ea42604cf1" providerId="LiveId" clId="{AD2D77C3-DFF6-4BDC-BC7D-032C8A00A961}" dt="2022-10-06T10:56:31.203" v="3" actId="2696"/>
        <pc:sldMkLst>
          <pc:docMk/>
          <pc:sldMk cId="3033024731" sldId="339"/>
        </pc:sldMkLst>
      </pc:sldChg>
      <pc:sldChg chg="modTransition">
        <pc:chgData name="Ingrid Monteiro" userId="4f1f53ea42604cf1" providerId="LiveId" clId="{AD2D77C3-DFF6-4BDC-BC7D-032C8A00A961}" dt="2022-09-30T12:06:26.410" v="2"/>
        <pc:sldMkLst>
          <pc:docMk/>
          <pc:sldMk cId="3166014613" sldId="3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C300E-04F4-4BB6-A82F-A0F7FE928FA2}" type="datetimeFigureOut">
              <a:rPr lang="pt-BR" smtClean="0"/>
              <a:t>26/10/2023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7E832F-BB7F-4CD1-BB71-FEAB81F434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661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CCA3C-BEBB-486D-960B-A89C6188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D39B7-960C-4351-8F8F-97F5F3B0A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F2056-BDE6-4AA7-A123-A11996864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606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5870D-AFE0-4E3F-BBE4-6F35B796A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9C3A8-9A39-4B7B-BCF8-7B59B8126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AA676-A77D-4601-AB2B-39B2A718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45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10279-8813-4FB6-9C01-BC4F4D844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FC89F-1325-4935-A8C2-757B2F6E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3F6FF-F72F-4A34-B851-D737528D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852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557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696243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30C080D-C7AB-409D-BDDE-1BA66D4DE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F620C3-17AF-4066-B391-F667A9D9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F38AAF-F9E2-4273-92DE-9A4B9DE89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021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7" y="579437"/>
            <a:ext cx="10515600" cy="9350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556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3556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198" y="1681163"/>
            <a:ext cx="5760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198" y="2505075"/>
            <a:ext cx="576000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54DCDC4-FEE0-4C3E-A3A9-3ED07CD9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42AA627-0187-4C75-AA14-F36FD10D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65A854-D57F-4704-97A6-7552D1C9E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010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831757A-CB13-47A7-A08D-1F1BDC64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6A7F01C-3D72-4792-ABB1-2B6F5164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0354516-742B-4411-9552-3FDA52C6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9592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34E3666-3C0B-4E46-A2E8-ED52BABAD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F4BDA6D-BC34-4305-AE26-D4AD31A24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C420C5-2F3B-4F54-A99D-D522138B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811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58" y="577516"/>
            <a:ext cx="4448468" cy="147988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8884" y="577517"/>
            <a:ext cx="6959558" cy="52835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4B20430-F28F-47E3-B6B6-AA4232531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EFB09E-CAE8-4F63-9BAE-93D20BD7F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3F35FDE-61F3-4089-81EF-360FAB0CF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648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4ECB7FB-98BD-4B4A-84FF-47E1A7C9D5A7}"/>
              </a:ext>
            </a:extLst>
          </p:cNvPr>
          <p:cNvSpPr txBox="1">
            <a:spLocks/>
          </p:cNvSpPr>
          <p:nvPr/>
        </p:nvSpPr>
        <p:spPr>
          <a:xfrm>
            <a:off x="323850" y="577850"/>
            <a:ext cx="4448175" cy="147955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40968" y="987425"/>
            <a:ext cx="6927474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9AABF984-BD12-4A1E-BE7D-02AC9CE9FBF5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323558" y="2057400"/>
            <a:ext cx="444846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C04E7-20E6-4648-83BB-A6ED4352D85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092A73-4C95-49CF-9188-CF6C08EAD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F93A4-30BB-4B46-BDB8-22185A619C6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3448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19C20-317E-4A94-9B89-2780722BE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2BD835-CC18-4BF6-9159-C020DCF14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8B865-254A-4F93-9D5D-F25FCBD7E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962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529389"/>
            <a:ext cx="3143543" cy="564757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557" y="529389"/>
            <a:ext cx="8248943" cy="564757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091986-A0B6-4B85-8B94-36698A395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5810A-D584-40C5-9A71-9D611131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A4568-3BDD-4304-8FEE-917865265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71613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057E057-6DD5-435A-9328-02D86E0DA9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592138"/>
            <a:ext cx="11534775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  <a:endParaRPr lang="en-US" altLang="pt-BR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DF07BB5-4F57-4E17-B0E5-8CCE7E26BE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825625"/>
            <a:ext cx="11534775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7F19E-AA12-4220-9C77-3B410A9E0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38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pt-BR"/>
              <a:t>02/04/2018</a:t>
            </a:r>
            <a:endParaRPr lang="pt-BR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6E4F2-A56F-4B7E-8B77-448ADFE5E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92463" y="6356350"/>
            <a:ext cx="72183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43A64-EC09-41CB-8F13-3953F110DF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24950" y="476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3200DEA-4D7F-4A5D-AFE3-CCFE36347E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5836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pt-BR" dirty="0"/>
            </a:br>
            <a:r>
              <a:rPr lang="pt-BR" dirty="0"/>
              <a:t>Usabilidade e experiência do usuário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dirty="0"/>
              <a:t>Ingrid Teixeira Monteiro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pt-BR" sz="2000" b="1" dirty="0">
                <a:solidFill>
                  <a:srgbClr val="010066"/>
                </a:solidFill>
              </a:rPr>
              <a:t>QXD0221, QXD0016 – Interação Humano-Computador</a:t>
            </a:r>
          </a:p>
        </p:txBody>
      </p:sp>
    </p:spTree>
    <p:extLst>
      <p:ext uri="{BB962C8B-B14F-4D97-AF65-F5344CB8AC3E}">
        <p14:creationId xmlns:p14="http://schemas.microsoft.com/office/powerpoint/2010/main" val="3716830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Qualidade em IHC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</a:t>
            </a:r>
            <a:r>
              <a:rPr lang="pt-BR" b="1" dirty="0"/>
              <a:t>critérios de qualidade de uso </a:t>
            </a:r>
            <a:r>
              <a:rPr lang="pt-BR" dirty="0"/>
              <a:t>enfatizam certas </a:t>
            </a:r>
            <a:r>
              <a:rPr lang="pt-BR" b="1" dirty="0"/>
              <a:t>características</a:t>
            </a:r>
            <a:r>
              <a:rPr lang="pt-BR" dirty="0"/>
              <a:t> da interação e da interface que as tornam </a:t>
            </a:r>
            <a:r>
              <a:rPr lang="pt-BR" b="1" dirty="0"/>
              <a:t>adequadas</a:t>
            </a:r>
            <a:r>
              <a:rPr lang="pt-BR" dirty="0"/>
              <a:t> aos efeitos esperados do uso do sistema.</a:t>
            </a:r>
          </a:p>
          <a:p>
            <a:pPr lvl="1"/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Acessibilidade</a:t>
            </a:r>
          </a:p>
          <a:p>
            <a:pPr lvl="1"/>
            <a:r>
              <a:rPr lang="pt-BR" dirty="0"/>
              <a:t>Usabilidade</a:t>
            </a:r>
          </a:p>
          <a:p>
            <a:pPr lvl="1"/>
            <a:r>
              <a:rPr lang="pt-BR" dirty="0"/>
              <a:t>Experiência do usuário</a:t>
            </a:r>
          </a:p>
          <a:p>
            <a:pPr lvl="1"/>
            <a:r>
              <a:rPr lang="pt-BR" dirty="0">
                <a:solidFill>
                  <a:schemeClr val="bg2">
                    <a:lumMod val="75000"/>
                  </a:schemeClr>
                </a:solidFill>
              </a:rPr>
              <a:t>Comunicabilidade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802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9487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É o critério de qualidade mais </a:t>
            </a:r>
            <a:r>
              <a:rPr lang="pt-BR" b="1" dirty="0"/>
              <a:t>conhecido</a:t>
            </a:r>
            <a:r>
              <a:rPr lang="pt-BR" dirty="0"/>
              <a:t> e mais frequentemente </a:t>
            </a:r>
            <a:r>
              <a:rPr lang="pt-BR" b="1" dirty="0"/>
              <a:t>considerado</a:t>
            </a:r>
            <a:r>
              <a:rPr lang="pt-BR" dirty="0"/>
              <a:t>.</a:t>
            </a:r>
          </a:p>
          <a:p>
            <a:r>
              <a:rPr lang="pt-BR" dirty="0"/>
              <a:t>Para muitas pessoas, usabilidade é </a:t>
            </a:r>
            <a:r>
              <a:rPr lang="pt-BR" b="1" dirty="0"/>
              <a:t>sinônimo</a:t>
            </a:r>
            <a:r>
              <a:rPr lang="pt-BR" dirty="0"/>
              <a:t> de qualidade.</a:t>
            </a:r>
          </a:p>
          <a:p>
            <a:r>
              <a:rPr lang="pt-BR" dirty="0"/>
              <a:t>Está relacionada com a facilidade de </a:t>
            </a:r>
            <a:r>
              <a:rPr lang="pt-BR" b="1" dirty="0"/>
              <a:t>aprendizado</a:t>
            </a:r>
            <a:r>
              <a:rPr lang="pt-BR" dirty="0"/>
              <a:t> e </a:t>
            </a:r>
            <a:r>
              <a:rPr lang="pt-BR" b="1" dirty="0"/>
              <a:t>uso</a:t>
            </a:r>
            <a:r>
              <a:rPr lang="pt-BR" dirty="0"/>
              <a:t> da interface, bem como com a </a:t>
            </a:r>
            <a:r>
              <a:rPr lang="pt-BR" b="1" dirty="0"/>
              <a:t>satisfação</a:t>
            </a:r>
            <a:r>
              <a:rPr lang="pt-BR" dirty="0"/>
              <a:t> do usuário em decorrência desse uso.</a:t>
            </a:r>
          </a:p>
          <a:p>
            <a:r>
              <a:rPr lang="pt-BR" dirty="0"/>
              <a:t>A usabilidade enfoca a maneira como o uso de um sistema interativo no ambiente de trabalho é </a:t>
            </a:r>
            <a:r>
              <a:rPr lang="pt-BR" b="1" dirty="0"/>
              <a:t>afetado</a:t>
            </a:r>
            <a:r>
              <a:rPr lang="pt-BR" dirty="0"/>
              <a:t> por características do usuário.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243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 em normas internacionais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5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/>
          <a:srcRect l="671" t="12629" r="1384" b="2132"/>
          <a:stretch/>
        </p:blipFill>
        <p:spPr>
          <a:xfrm>
            <a:off x="1127448" y="1709930"/>
            <a:ext cx="10513168" cy="4401419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6862574" y="3100898"/>
            <a:ext cx="4490010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Software </a:t>
            </a:r>
            <a:r>
              <a:rPr lang="pt-BR" sz="2000" b="1" dirty="0" err="1">
                <a:solidFill>
                  <a:srgbClr val="FF0000"/>
                </a:solidFill>
              </a:rPr>
              <a:t>enginnering</a:t>
            </a:r>
            <a:r>
              <a:rPr lang="pt-BR" sz="2000" b="1" dirty="0">
                <a:solidFill>
                  <a:srgbClr val="FF0000"/>
                </a:solidFill>
              </a:rPr>
              <a:t> -- </a:t>
            </a:r>
            <a:r>
              <a:rPr lang="pt-BR" sz="2000" b="1" dirty="0" err="1">
                <a:solidFill>
                  <a:srgbClr val="FF0000"/>
                </a:solidFill>
              </a:rPr>
              <a:t>Product</a:t>
            </a:r>
            <a:r>
              <a:rPr lang="pt-BR" sz="2000" b="1" dirty="0">
                <a:solidFill>
                  <a:srgbClr val="FF0000"/>
                </a:solidFill>
              </a:rPr>
              <a:t> </a:t>
            </a:r>
            <a:r>
              <a:rPr lang="pt-BR" sz="2000" b="1" dirty="0" err="1">
                <a:solidFill>
                  <a:srgbClr val="FF0000"/>
                </a:solidFill>
              </a:rPr>
              <a:t>quality</a:t>
            </a:r>
            <a:endParaRPr lang="pt-BR" sz="2000" b="1" dirty="0">
              <a:solidFill>
                <a:srgbClr val="FF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6862574" y="4325034"/>
            <a:ext cx="4490010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 err="1">
                <a:solidFill>
                  <a:srgbClr val="FF0000"/>
                </a:solidFill>
              </a:rPr>
              <a:t>Ergonomics</a:t>
            </a:r>
            <a:r>
              <a:rPr lang="pt-BR" sz="2000" b="1" dirty="0">
                <a:solidFill>
                  <a:srgbClr val="FF0000"/>
                </a:solidFill>
              </a:rPr>
              <a:t> </a:t>
            </a:r>
            <a:r>
              <a:rPr lang="pt-BR" sz="2000" b="1" dirty="0" err="1">
                <a:solidFill>
                  <a:srgbClr val="FF0000"/>
                </a:solidFill>
              </a:rPr>
              <a:t>of</a:t>
            </a:r>
            <a:r>
              <a:rPr lang="pt-BR" sz="2000" b="1" dirty="0">
                <a:solidFill>
                  <a:srgbClr val="FF0000"/>
                </a:solidFill>
              </a:rPr>
              <a:t> </a:t>
            </a:r>
            <a:r>
              <a:rPr lang="pt-BR" sz="2000" b="1" dirty="0" err="1">
                <a:solidFill>
                  <a:srgbClr val="FF0000"/>
                </a:solidFill>
              </a:rPr>
              <a:t>human</a:t>
            </a:r>
            <a:r>
              <a:rPr lang="pt-BR" sz="2000" b="1" dirty="0">
                <a:solidFill>
                  <a:srgbClr val="FF0000"/>
                </a:solidFill>
              </a:rPr>
              <a:t>-system </a:t>
            </a:r>
            <a:r>
              <a:rPr lang="pt-BR" sz="2000" b="1" dirty="0" err="1">
                <a:solidFill>
                  <a:srgbClr val="FF0000"/>
                </a:solidFill>
              </a:rPr>
              <a:t>interaction</a:t>
            </a:r>
            <a:endParaRPr lang="pt-BR" sz="2000" b="1" dirty="0">
              <a:solidFill>
                <a:srgbClr val="FF0000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6862574" y="5513545"/>
            <a:ext cx="4490010" cy="4001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Computer </a:t>
            </a:r>
            <a:r>
              <a:rPr lang="pt-BR" sz="2000" b="1" dirty="0" err="1">
                <a:solidFill>
                  <a:srgbClr val="FF0000"/>
                </a:solidFill>
              </a:rPr>
              <a:t>Dictionary</a:t>
            </a:r>
            <a:endParaRPr lang="pt-BR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927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ABNT NBR ISO 9241-11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Usabilidade</a:t>
            </a:r>
          </a:p>
          <a:p>
            <a:pPr lvl="1"/>
            <a:r>
              <a:rPr lang="pt-BR" b="1" dirty="0"/>
              <a:t>medida</a:t>
            </a:r>
            <a:r>
              <a:rPr lang="pt-BR" dirty="0"/>
              <a:t> na qual um produto pode ser usado por </a:t>
            </a:r>
            <a:r>
              <a:rPr lang="pt-BR" b="1" dirty="0"/>
              <a:t>usuários específicos</a:t>
            </a:r>
            <a:r>
              <a:rPr lang="pt-BR" dirty="0"/>
              <a:t>, para alcançar </a:t>
            </a:r>
            <a:r>
              <a:rPr lang="pt-BR" b="1" dirty="0"/>
              <a:t>objetivos específicos </a:t>
            </a:r>
            <a:r>
              <a:rPr lang="pt-BR" dirty="0"/>
              <a:t>com </a:t>
            </a:r>
            <a:r>
              <a:rPr lang="pt-BR" b="1" dirty="0"/>
              <a:t>eficácia, eficiência e satisfação</a:t>
            </a:r>
            <a:r>
              <a:rPr lang="pt-BR" dirty="0"/>
              <a:t>, em um contexto de uso específico</a:t>
            </a:r>
          </a:p>
          <a:p>
            <a:pPr lvl="1"/>
            <a:r>
              <a:rPr lang="pt-BR" dirty="0"/>
              <a:t>Eficácia</a:t>
            </a:r>
          </a:p>
          <a:p>
            <a:pPr lvl="2"/>
            <a:r>
              <a:rPr lang="pt-BR" b="1" dirty="0"/>
              <a:t>exatidão e completude </a:t>
            </a:r>
            <a:r>
              <a:rPr lang="pt-BR" dirty="0"/>
              <a:t>com as quais usuários alcançam objetivos específicos</a:t>
            </a:r>
          </a:p>
          <a:p>
            <a:pPr lvl="1"/>
            <a:r>
              <a:rPr lang="pt-BR" dirty="0"/>
              <a:t>Eficiência</a:t>
            </a:r>
          </a:p>
          <a:p>
            <a:pPr lvl="2"/>
            <a:r>
              <a:rPr lang="pt-BR" b="1" dirty="0"/>
              <a:t>recursos</a:t>
            </a:r>
            <a:r>
              <a:rPr lang="pt-BR" dirty="0"/>
              <a:t> gastos em relação à exatidão e completude com as quais usuários atingem objetivos</a:t>
            </a:r>
          </a:p>
          <a:p>
            <a:pPr lvl="1"/>
            <a:r>
              <a:rPr lang="pt-BR" dirty="0"/>
              <a:t>Satisfação</a:t>
            </a:r>
          </a:p>
          <a:p>
            <a:pPr lvl="2"/>
            <a:r>
              <a:rPr lang="pt-BR" dirty="0"/>
              <a:t>ausência do desconforto e </a:t>
            </a:r>
            <a:r>
              <a:rPr lang="pt-BR" b="1" dirty="0"/>
              <a:t>atitudes positivas </a:t>
            </a:r>
            <a:r>
              <a:rPr lang="pt-BR" dirty="0"/>
              <a:t>em relação uso de um produto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503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Nielsen (1993)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Usabilidade</a:t>
            </a:r>
            <a:r>
              <a:rPr lang="pt-BR" dirty="0"/>
              <a:t> é um conjunto de fatores que </a:t>
            </a:r>
            <a:r>
              <a:rPr lang="pt-BR" b="1" dirty="0"/>
              <a:t>qualificam</a:t>
            </a:r>
            <a:r>
              <a:rPr lang="pt-BR" dirty="0"/>
              <a:t> quão bem uma pessoa pode interagir com um sistema interativo.</a:t>
            </a:r>
          </a:p>
          <a:p>
            <a:r>
              <a:rPr lang="pt-BR" dirty="0"/>
              <a:t>A usabilidade envolve principalmente a </a:t>
            </a:r>
            <a:r>
              <a:rPr lang="pt-BR" b="1" dirty="0"/>
              <a:t>capacidade cognitiva, perceptiva e motora </a:t>
            </a:r>
            <a:r>
              <a:rPr lang="pt-BR" dirty="0"/>
              <a:t>dos usuários empregada durante a interação.</a:t>
            </a:r>
          </a:p>
          <a:p>
            <a:r>
              <a:rPr lang="pt-BR" b="1" dirty="0"/>
              <a:t>Fatores de usabilidade</a:t>
            </a:r>
          </a:p>
          <a:p>
            <a:pPr lvl="1"/>
            <a:r>
              <a:rPr lang="pt-BR" dirty="0"/>
              <a:t>Facilidade de aprendizado</a:t>
            </a:r>
          </a:p>
          <a:p>
            <a:pPr lvl="1"/>
            <a:r>
              <a:rPr lang="pt-BR" dirty="0"/>
              <a:t>Facilidade de recordação</a:t>
            </a:r>
          </a:p>
          <a:p>
            <a:pPr lvl="1"/>
            <a:r>
              <a:rPr lang="pt-BR" dirty="0"/>
              <a:t>Eficiência</a:t>
            </a:r>
          </a:p>
          <a:p>
            <a:pPr lvl="1"/>
            <a:r>
              <a:rPr lang="pt-BR" dirty="0"/>
              <a:t>Segurança no uso</a:t>
            </a:r>
          </a:p>
          <a:p>
            <a:pPr lvl="1"/>
            <a:r>
              <a:rPr lang="pt-BR" dirty="0"/>
              <a:t>Satisfação do usuário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52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Facilidade de aprendizado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Facilidade de aprendizado se refere ao </a:t>
            </a:r>
            <a:r>
              <a:rPr lang="pt-BR" b="1" dirty="0"/>
              <a:t>tempo</a:t>
            </a:r>
            <a:r>
              <a:rPr lang="pt-BR" dirty="0"/>
              <a:t> e </a:t>
            </a:r>
            <a:r>
              <a:rPr lang="pt-BR" b="1" dirty="0"/>
              <a:t>esforço</a:t>
            </a:r>
            <a:r>
              <a:rPr lang="pt-BR" dirty="0"/>
              <a:t> necessários para que o usuário </a:t>
            </a:r>
            <a:r>
              <a:rPr lang="pt-BR" b="1" dirty="0"/>
              <a:t>aprenda</a:t>
            </a:r>
            <a:r>
              <a:rPr lang="pt-BR" dirty="0"/>
              <a:t> a utilizar o sistema com determinado </a:t>
            </a:r>
            <a:r>
              <a:rPr lang="pt-BR" b="1" dirty="0"/>
              <a:t>nível</a:t>
            </a:r>
            <a:r>
              <a:rPr lang="pt-BR" dirty="0"/>
              <a:t> de </a:t>
            </a:r>
            <a:r>
              <a:rPr lang="pt-BR" b="1" dirty="0"/>
              <a:t>competência</a:t>
            </a:r>
            <a:r>
              <a:rPr lang="pt-BR" dirty="0"/>
              <a:t> e </a:t>
            </a:r>
            <a:r>
              <a:rPr lang="pt-BR" b="1" dirty="0"/>
              <a:t>desempenho</a:t>
            </a:r>
            <a:r>
              <a:rPr lang="pt-BR" dirty="0"/>
              <a:t>.</a:t>
            </a:r>
          </a:p>
          <a:p>
            <a:r>
              <a:rPr lang="pt-BR" dirty="0"/>
              <a:t>O usuário precisa dispor de </a:t>
            </a:r>
            <a:r>
              <a:rPr lang="pt-BR" b="1" dirty="0"/>
              <a:t>tempo</a:t>
            </a:r>
            <a:r>
              <a:rPr lang="pt-BR" dirty="0"/>
              <a:t> e </a:t>
            </a:r>
            <a:r>
              <a:rPr lang="pt-BR" b="1" dirty="0"/>
              <a:t>interesse</a:t>
            </a:r>
            <a:r>
              <a:rPr lang="pt-BR" dirty="0"/>
              <a:t> para se </a:t>
            </a:r>
            <a:r>
              <a:rPr lang="pt-BR" b="1" dirty="0"/>
              <a:t>empenhar</a:t>
            </a:r>
            <a:r>
              <a:rPr lang="pt-BR" dirty="0"/>
              <a:t> em aprender a utilizar um sistema interativo e ser capaz de </a:t>
            </a:r>
            <a:r>
              <a:rPr lang="pt-BR" b="1" dirty="0"/>
              <a:t>usufruir</a:t>
            </a:r>
            <a:r>
              <a:rPr lang="pt-BR" dirty="0"/>
              <a:t> de suas funcionalidades.</a:t>
            </a:r>
          </a:p>
          <a:p>
            <a:r>
              <a:rPr lang="pt-BR" dirty="0"/>
              <a:t>Cuidar da facilidade de aprendizado significa equilibrar...</a:t>
            </a:r>
          </a:p>
          <a:p>
            <a:pPr lvl="1"/>
            <a:r>
              <a:rPr lang="pt-BR" dirty="0"/>
              <a:t>A </a:t>
            </a:r>
            <a:r>
              <a:rPr lang="pt-BR" b="1" dirty="0"/>
              <a:t>complexidade</a:t>
            </a:r>
            <a:r>
              <a:rPr lang="pt-BR" dirty="0"/>
              <a:t> da atividade e o conjunto de funcionalidades oferecidas</a:t>
            </a:r>
          </a:p>
          <a:p>
            <a:pPr lvl="1"/>
            <a:r>
              <a:rPr lang="pt-BR" dirty="0"/>
              <a:t>O </a:t>
            </a:r>
            <a:r>
              <a:rPr lang="pt-BR" b="1" dirty="0"/>
              <a:t>tempo</a:t>
            </a:r>
            <a:r>
              <a:rPr lang="pt-BR" dirty="0"/>
              <a:t> e o </a:t>
            </a:r>
            <a:r>
              <a:rPr lang="pt-BR" b="1" dirty="0"/>
              <a:t>esforço</a:t>
            </a:r>
            <a:r>
              <a:rPr lang="pt-BR" dirty="0"/>
              <a:t> necessários para aprender a utilizar o sistema em cada nível de competência e desempenho estabelecido como meta.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634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Facilidade de recordação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Facilidade de recordação diz respeito ao </a:t>
            </a:r>
            <a:r>
              <a:rPr lang="pt-BR" b="1" dirty="0"/>
              <a:t>esforço cognitivo</a:t>
            </a:r>
            <a:r>
              <a:rPr lang="pt-BR" dirty="0"/>
              <a:t> do usuário necessário para </a:t>
            </a:r>
            <a:r>
              <a:rPr lang="pt-BR" b="1" dirty="0"/>
              <a:t>lembrar</a:t>
            </a:r>
            <a:r>
              <a:rPr lang="pt-BR" dirty="0"/>
              <a:t> como interagir com a interface do sistema interativo</a:t>
            </a:r>
          </a:p>
          <a:p>
            <a:r>
              <a:rPr lang="pt-BR" dirty="0"/>
              <a:t>Um sistema de fácil recordação auxilia o usuário a se lembrar de </a:t>
            </a:r>
            <a:r>
              <a:rPr lang="pt-BR" b="1" dirty="0"/>
              <a:t>como utilizá-lo</a:t>
            </a:r>
          </a:p>
          <a:p>
            <a:pPr lvl="1"/>
            <a:r>
              <a:rPr lang="pt-BR" dirty="0"/>
              <a:t>O usuário pode não se lembrar do </a:t>
            </a:r>
            <a:r>
              <a:rPr lang="pt-BR" b="1" dirty="0"/>
              <a:t>nome</a:t>
            </a:r>
            <a:r>
              <a:rPr lang="pt-BR" dirty="0"/>
              <a:t> de um item de menu, mas pode lembrar que ele faz parte de uma determinada categoria.</a:t>
            </a:r>
          </a:p>
          <a:p>
            <a:r>
              <a:rPr lang="pt-BR" dirty="0"/>
              <a:t>A facilidade de recordação é especialmente importante quando existem operações ou sistemas com </a:t>
            </a:r>
            <a:r>
              <a:rPr lang="pt-BR" b="1" dirty="0"/>
              <a:t>baixa frequência </a:t>
            </a:r>
            <a:r>
              <a:rPr lang="pt-BR" dirty="0"/>
              <a:t>de uso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3518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Eficiência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eficiência de um sistema interativo diz respeito ao </a:t>
            </a:r>
            <a:r>
              <a:rPr lang="pt-BR" b="1" dirty="0"/>
              <a:t>tempo</a:t>
            </a:r>
            <a:r>
              <a:rPr lang="pt-BR" dirty="0"/>
              <a:t> necessário para </a:t>
            </a:r>
            <a:r>
              <a:rPr lang="pt-BR" b="1" dirty="0"/>
              <a:t>conclusão</a:t>
            </a:r>
            <a:r>
              <a:rPr lang="pt-BR" dirty="0"/>
              <a:t> de uma atividade com apoio computacional.</a:t>
            </a:r>
          </a:p>
          <a:p>
            <a:r>
              <a:rPr lang="pt-BR" dirty="0"/>
              <a:t>A eficiência de um sistema interativo se torna importante quando desejamos manter alta a </a:t>
            </a:r>
            <a:r>
              <a:rPr lang="pt-BR" b="1" dirty="0"/>
              <a:t>produtividade</a:t>
            </a:r>
            <a:r>
              <a:rPr lang="pt-BR" dirty="0"/>
              <a:t> do usuário, </a:t>
            </a:r>
            <a:r>
              <a:rPr lang="pt-BR" b="1" dirty="0"/>
              <a:t>depois</a:t>
            </a:r>
            <a:r>
              <a:rPr lang="pt-BR" dirty="0"/>
              <a:t> de ele ter aprendido a utilizar o sistema.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4524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Segurança no uso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segurança de uso se refere ao </a:t>
            </a:r>
            <a:r>
              <a:rPr lang="pt-BR" b="1" dirty="0"/>
              <a:t>grau de proteção</a:t>
            </a:r>
            <a:r>
              <a:rPr lang="pt-BR" dirty="0"/>
              <a:t> de um sistema contra condições </a:t>
            </a:r>
            <a:r>
              <a:rPr lang="pt-BR" b="1" dirty="0"/>
              <a:t>desfavoráveis</a:t>
            </a:r>
            <a:r>
              <a:rPr lang="pt-BR" dirty="0"/>
              <a:t> ou até mesmo </a:t>
            </a:r>
            <a:r>
              <a:rPr lang="pt-BR" b="1" dirty="0"/>
              <a:t>perigosas</a:t>
            </a:r>
            <a:r>
              <a:rPr lang="pt-BR" dirty="0"/>
              <a:t> para os usuários.</a:t>
            </a:r>
          </a:p>
          <a:p>
            <a:r>
              <a:rPr lang="pt-BR" dirty="0"/>
              <a:t>É interessante que os sistemas interativos ofereçam segurança ao usuário durante o uso para </a:t>
            </a:r>
            <a:r>
              <a:rPr lang="pt-BR" b="1" dirty="0"/>
              <a:t>motivá-lo </a:t>
            </a:r>
            <a:r>
              <a:rPr lang="pt-BR" dirty="0"/>
              <a:t>a aprender a usar o software </a:t>
            </a:r>
            <a:r>
              <a:rPr lang="pt-BR" b="1" dirty="0"/>
              <a:t>explorando</a:t>
            </a:r>
            <a:r>
              <a:rPr lang="pt-BR" dirty="0"/>
              <a:t> suas funcionalidades.</a:t>
            </a:r>
          </a:p>
          <a:p>
            <a:r>
              <a:rPr lang="pt-BR" dirty="0"/>
              <a:t>Formas para se alcançar a segurança no uso:</a:t>
            </a:r>
          </a:p>
          <a:p>
            <a:pPr lvl="1"/>
            <a:r>
              <a:rPr lang="pt-BR" dirty="0"/>
              <a:t>Buscar </a:t>
            </a:r>
            <a:r>
              <a:rPr lang="pt-BR" b="1" dirty="0"/>
              <a:t>evitar</a:t>
            </a:r>
            <a:r>
              <a:rPr lang="pt-BR" dirty="0"/>
              <a:t> problemas</a:t>
            </a:r>
          </a:p>
          <a:p>
            <a:pPr lvl="2"/>
            <a:r>
              <a:rPr lang="pt-BR" dirty="0"/>
              <a:t>Reduzir a possibilidade de acionar </a:t>
            </a:r>
            <a:r>
              <a:rPr lang="pt-BR" b="1" dirty="0"/>
              <a:t>comandos indesejados</a:t>
            </a:r>
            <a:r>
              <a:rPr lang="pt-BR" dirty="0"/>
              <a:t>.</a:t>
            </a:r>
          </a:p>
          <a:p>
            <a:pPr lvl="1"/>
            <a:r>
              <a:rPr lang="pt-BR" b="1" dirty="0"/>
              <a:t>Ajudar</a:t>
            </a:r>
            <a:r>
              <a:rPr lang="pt-BR" dirty="0"/>
              <a:t> o usuário a se </a:t>
            </a:r>
            <a:r>
              <a:rPr lang="pt-BR" b="1" dirty="0"/>
              <a:t>recuperar</a:t>
            </a:r>
            <a:r>
              <a:rPr lang="pt-BR" dirty="0"/>
              <a:t> de uma situação problemática</a:t>
            </a:r>
          </a:p>
          <a:p>
            <a:pPr lvl="2"/>
            <a:r>
              <a:rPr lang="pt-BR" dirty="0"/>
              <a:t>Mecanismos para </a:t>
            </a:r>
            <a:r>
              <a:rPr lang="pt-BR" b="1" dirty="0"/>
              <a:t>desfazer</a:t>
            </a:r>
            <a:r>
              <a:rPr lang="pt-BR" dirty="0"/>
              <a:t> e </a:t>
            </a:r>
            <a:r>
              <a:rPr lang="pt-BR" b="1" dirty="0"/>
              <a:t>refazer</a:t>
            </a:r>
            <a:r>
              <a:rPr lang="pt-BR" dirty="0"/>
              <a:t> ações e para </a:t>
            </a:r>
            <a:r>
              <a:rPr lang="pt-BR" b="1" dirty="0"/>
              <a:t>cancelar</a:t>
            </a:r>
            <a:r>
              <a:rPr lang="pt-BR" dirty="0"/>
              <a:t> ou </a:t>
            </a:r>
            <a:r>
              <a:rPr lang="pt-BR" b="1" dirty="0"/>
              <a:t>interromper</a:t>
            </a:r>
            <a:r>
              <a:rPr lang="pt-BR" dirty="0"/>
              <a:t> operações demoradas</a:t>
            </a:r>
          </a:p>
          <a:p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466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Satisfação do usuário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satisfação do usuário está relacionada a uma </a:t>
            </a:r>
            <a:r>
              <a:rPr lang="pt-BR" b="1" dirty="0"/>
              <a:t>avaliação subjetiva </a:t>
            </a:r>
            <a:r>
              <a:rPr lang="pt-BR" dirty="0"/>
              <a:t>que expressa o efeito do uso do sistema sobre as </a:t>
            </a:r>
            <a:r>
              <a:rPr lang="pt-BR" b="1" dirty="0"/>
              <a:t>emoções</a:t>
            </a:r>
            <a:r>
              <a:rPr lang="pt-BR" dirty="0"/>
              <a:t> e os </a:t>
            </a:r>
            <a:r>
              <a:rPr lang="pt-BR" b="1" dirty="0"/>
              <a:t>sentimentos</a:t>
            </a:r>
            <a:r>
              <a:rPr lang="pt-BR" dirty="0"/>
              <a:t> do usuário.</a:t>
            </a:r>
          </a:p>
          <a:p>
            <a:r>
              <a:rPr lang="pt-BR" dirty="0"/>
              <a:t>Alguns interpretam a preocupação com emoções e sentimentos dos usuários como uma atenção maior à satisfação do usuário como parte do critério de </a:t>
            </a:r>
            <a:r>
              <a:rPr lang="pt-BR" b="1" dirty="0"/>
              <a:t>usabilidade</a:t>
            </a:r>
            <a:r>
              <a:rPr lang="pt-BR" dirty="0"/>
              <a:t>.</a:t>
            </a:r>
          </a:p>
          <a:p>
            <a:r>
              <a:rPr lang="pt-BR" dirty="0"/>
              <a:t>Outros, consideram essa preocupação como um critério de qualidade distinto, chamado de </a:t>
            </a:r>
            <a:r>
              <a:rPr lang="pt-BR" b="1" dirty="0"/>
              <a:t>experiência do usuário</a:t>
            </a:r>
            <a:r>
              <a:rPr lang="pt-BR" dirty="0"/>
              <a:t>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1800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Fatores de usabilidade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Dificilmente um único sistema será muito bom em </a:t>
            </a:r>
            <a:r>
              <a:rPr lang="pt-BR" b="1" dirty="0"/>
              <a:t>todos</a:t>
            </a:r>
            <a:r>
              <a:rPr lang="pt-BR" dirty="0"/>
              <a:t> os critérios de usabilidade</a:t>
            </a:r>
          </a:p>
          <a:p>
            <a:pPr lvl="1"/>
            <a:r>
              <a:rPr lang="pt-BR" dirty="0"/>
              <a:t>Não é fácil articular esses critérios sem que haja perdas em um ou mais deles.</a:t>
            </a:r>
          </a:p>
          <a:p>
            <a:r>
              <a:rPr lang="pt-BR" dirty="0"/>
              <a:t>Em que </a:t>
            </a:r>
            <a:r>
              <a:rPr lang="pt-BR" b="1" dirty="0"/>
              <a:t>situações</a:t>
            </a:r>
            <a:r>
              <a:rPr lang="pt-BR" dirty="0"/>
              <a:t> cada fator de usabilidade é </a:t>
            </a:r>
            <a:r>
              <a:rPr lang="pt-BR" b="1" dirty="0"/>
              <a:t>importante</a:t>
            </a:r>
            <a:r>
              <a:rPr lang="pt-BR" dirty="0"/>
              <a:t>?</a:t>
            </a:r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594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Engenharia de usabilidade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60146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uvem 7"/>
          <p:cNvSpPr/>
          <p:nvPr/>
        </p:nvSpPr>
        <p:spPr>
          <a:xfrm>
            <a:off x="1940598" y="980729"/>
            <a:ext cx="1800000" cy="984825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400" b="1" dirty="0">
                <a:ea typeface="Calibri"/>
                <a:cs typeface="Times New Roman"/>
              </a:rPr>
              <a:t>Situação 1</a:t>
            </a:r>
            <a:endParaRPr lang="pt-BR" sz="1200" dirty="0">
              <a:ea typeface="Calibri"/>
              <a:cs typeface="Times New Roman"/>
            </a:endParaRPr>
          </a:p>
        </p:txBody>
      </p:sp>
      <p:sp>
        <p:nvSpPr>
          <p:cNvPr id="12" name="Nuvem 11"/>
          <p:cNvSpPr/>
          <p:nvPr/>
        </p:nvSpPr>
        <p:spPr>
          <a:xfrm>
            <a:off x="8294194" y="980729"/>
            <a:ext cx="1800000" cy="984825"/>
          </a:xfrm>
          <a:prstGeom prst="cloud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1600" b="1" dirty="0">
                <a:solidFill>
                  <a:srgbClr val="FFFFFF"/>
                </a:solidFill>
                <a:ea typeface="Calibri"/>
                <a:cs typeface="Times New Roman"/>
              </a:rPr>
              <a:t>Situação 2</a:t>
            </a:r>
            <a:endParaRPr lang="pt-BR" sz="1400" dirty="0">
              <a:ea typeface="Calibri"/>
              <a:cs typeface="Times New Roman"/>
            </a:endParaRPr>
          </a:p>
        </p:txBody>
      </p:sp>
      <p:sp>
        <p:nvSpPr>
          <p:cNvPr id="17" name="Seta para a direita 16"/>
          <p:cNvSpPr/>
          <p:nvPr/>
        </p:nvSpPr>
        <p:spPr>
          <a:xfrm>
            <a:off x="3922768" y="1209781"/>
            <a:ext cx="4155402" cy="526718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08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Ondulado 17"/>
          <p:cNvSpPr/>
          <p:nvPr/>
        </p:nvSpPr>
        <p:spPr>
          <a:xfrm>
            <a:off x="1631504" y="2169001"/>
            <a:ext cx="2520000" cy="792088"/>
          </a:xfrm>
          <a:prstGeom prst="wav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Onde estamos?</a:t>
            </a:r>
          </a:p>
        </p:txBody>
      </p:sp>
      <p:sp>
        <p:nvSpPr>
          <p:cNvPr id="19" name="Ondulado 18"/>
          <p:cNvSpPr/>
          <p:nvPr/>
        </p:nvSpPr>
        <p:spPr>
          <a:xfrm>
            <a:off x="7985100" y="2169001"/>
            <a:ext cx="2520000" cy="792088"/>
          </a:xfrm>
          <a:prstGeom prst="wav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/>
                </a:solidFill>
              </a:rPr>
              <a:t>Onde queremos chegar?</a:t>
            </a:r>
          </a:p>
        </p:txBody>
      </p:sp>
      <p:sp>
        <p:nvSpPr>
          <p:cNvPr id="20" name="Retângulo de cantos arredondados 19"/>
          <p:cNvSpPr/>
          <p:nvPr/>
        </p:nvSpPr>
        <p:spPr>
          <a:xfrm>
            <a:off x="2081504" y="4920669"/>
            <a:ext cx="1620000" cy="5400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600" b="1" dirty="0">
                <a:solidFill>
                  <a:schemeClr val="tx1"/>
                </a:solidFill>
                <a:ea typeface="Calibri"/>
                <a:cs typeface="Times New Roman"/>
              </a:rPr>
              <a:t>ANÁLISE</a:t>
            </a:r>
            <a:endParaRPr lang="pt-BR" sz="1100" b="1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  <p:sp>
        <p:nvSpPr>
          <p:cNvPr id="21" name="Retângulo de cantos arredondados 20"/>
          <p:cNvSpPr/>
          <p:nvPr/>
        </p:nvSpPr>
        <p:spPr>
          <a:xfrm>
            <a:off x="4981826" y="4920669"/>
            <a:ext cx="1620000" cy="540000"/>
          </a:xfrm>
          <a:prstGeom prst="roundRect">
            <a:avLst/>
          </a:prstGeom>
          <a:solidFill>
            <a:srgbClr val="00B0F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600" b="1" dirty="0">
                <a:solidFill>
                  <a:schemeClr val="tx1"/>
                </a:solidFill>
                <a:ea typeface="Calibri"/>
                <a:cs typeface="Times New Roman"/>
              </a:rPr>
              <a:t>SÍNTESE</a:t>
            </a:r>
            <a:endParaRPr lang="pt-BR" sz="1100" b="1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  <p:sp>
        <p:nvSpPr>
          <p:cNvPr id="22" name="Retângulo de cantos arredondados 21"/>
          <p:cNvSpPr/>
          <p:nvPr/>
        </p:nvSpPr>
        <p:spPr>
          <a:xfrm>
            <a:off x="8498191" y="4920669"/>
            <a:ext cx="1620000" cy="540000"/>
          </a:xfrm>
          <a:prstGeom prst="roundRect">
            <a:avLst/>
          </a:prstGeom>
          <a:solidFill>
            <a:srgbClr val="00B05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pt-BR" sz="1600" b="1" dirty="0">
                <a:solidFill>
                  <a:schemeClr val="tx1"/>
                </a:solidFill>
                <a:ea typeface="Calibri"/>
                <a:cs typeface="Times New Roman"/>
              </a:rPr>
              <a:t>AVALIAÇÃO</a:t>
            </a:r>
            <a:endParaRPr lang="pt-BR" sz="1100" b="1" dirty="0">
              <a:solidFill>
                <a:schemeClr val="tx1"/>
              </a:solidFill>
              <a:ea typeface="Calibri"/>
              <a:cs typeface="Times New Roman"/>
            </a:endParaRPr>
          </a:p>
        </p:txBody>
      </p:sp>
      <p:cxnSp>
        <p:nvCxnSpPr>
          <p:cNvPr id="23" name="Conector de seta reta 22"/>
          <p:cNvCxnSpPr/>
          <p:nvPr/>
        </p:nvCxnSpPr>
        <p:spPr>
          <a:xfrm flipV="1">
            <a:off x="2801504" y="3045673"/>
            <a:ext cx="0" cy="165618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Nuvem 23"/>
          <p:cNvSpPr/>
          <p:nvPr/>
        </p:nvSpPr>
        <p:spPr>
          <a:xfrm>
            <a:off x="4045722" y="1196499"/>
            <a:ext cx="1080000" cy="540000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dirty="0">
                <a:ea typeface="Calibri"/>
                <a:cs typeface="Times New Roman"/>
              </a:rPr>
              <a:t>Situação</a:t>
            </a:r>
            <a:endParaRPr lang="pt-BR" sz="1050" dirty="0">
              <a:ea typeface="Calibri"/>
              <a:cs typeface="Times New Roman"/>
            </a:endParaRPr>
          </a:p>
        </p:txBody>
      </p:sp>
      <p:sp>
        <p:nvSpPr>
          <p:cNvPr id="25" name="Nuvem 24"/>
          <p:cNvSpPr/>
          <p:nvPr/>
        </p:nvSpPr>
        <p:spPr>
          <a:xfrm>
            <a:off x="5353822" y="1196499"/>
            <a:ext cx="1080000" cy="540000"/>
          </a:xfrm>
          <a:prstGeom prst="cloud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dirty="0">
                <a:ea typeface="Calibri"/>
                <a:cs typeface="Times New Roman"/>
              </a:rPr>
              <a:t>Situação</a:t>
            </a:r>
            <a:endParaRPr lang="pt-BR" sz="1050" dirty="0">
              <a:ea typeface="Calibri"/>
              <a:cs typeface="Times New Roman"/>
            </a:endParaRPr>
          </a:p>
        </p:txBody>
      </p:sp>
      <p:sp>
        <p:nvSpPr>
          <p:cNvPr id="26" name="Nuvem 25"/>
          <p:cNvSpPr/>
          <p:nvPr/>
        </p:nvSpPr>
        <p:spPr>
          <a:xfrm>
            <a:off x="6661922" y="1196499"/>
            <a:ext cx="1080000" cy="540000"/>
          </a:xfrm>
          <a:prstGeom prst="cloud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BR" sz="900" b="1" dirty="0">
                <a:solidFill>
                  <a:schemeClr val="bg1"/>
                </a:solidFill>
                <a:ea typeface="Calibri"/>
                <a:cs typeface="Times New Roman"/>
              </a:rPr>
              <a:t>Situação</a:t>
            </a:r>
            <a:endParaRPr lang="pt-BR" sz="1050" dirty="0">
              <a:solidFill>
                <a:schemeClr val="bg1"/>
              </a:solidFill>
              <a:ea typeface="Calibri"/>
              <a:cs typeface="Times New Roman"/>
            </a:endParaRPr>
          </a:p>
        </p:txBody>
      </p:sp>
      <p:cxnSp>
        <p:nvCxnSpPr>
          <p:cNvPr id="27" name="Conector de seta reta 26"/>
          <p:cNvCxnSpPr/>
          <p:nvPr/>
        </p:nvCxnSpPr>
        <p:spPr>
          <a:xfrm flipH="1" flipV="1">
            <a:off x="4572006" y="1965553"/>
            <a:ext cx="1057892" cy="273630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V="1">
            <a:off x="5845922" y="1845995"/>
            <a:ext cx="0" cy="2855862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V="1">
            <a:off x="6061946" y="1965553"/>
            <a:ext cx="936104" cy="273630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/>
          <p:cNvCxnSpPr/>
          <p:nvPr/>
        </p:nvCxnSpPr>
        <p:spPr>
          <a:xfrm flipV="1">
            <a:off x="9190828" y="3045673"/>
            <a:ext cx="0" cy="1656184"/>
          </a:xfrm>
          <a:prstGeom prst="straightConnector1">
            <a:avLst/>
          </a:prstGeom>
          <a:ln w="57150">
            <a:solidFill>
              <a:schemeClr val="tx1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/>
          <p:cNvCxnSpPr>
            <a:stCxn id="20" idx="3"/>
            <a:endCxn id="21" idx="1"/>
          </p:cNvCxnSpPr>
          <p:nvPr/>
        </p:nvCxnSpPr>
        <p:spPr>
          <a:xfrm>
            <a:off x="3701504" y="5190669"/>
            <a:ext cx="1280322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Conector de seta reta 38"/>
          <p:cNvCxnSpPr>
            <a:stCxn id="21" idx="3"/>
            <a:endCxn id="22" idx="1"/>
          </p:cNvCxnSpPr>
          <p:nvPr/>
        </p:nvCxnSpPr>
        <p:spPr>
          <a:xfrm>
            <a:off x="6601827" y="5190669"/>
            <a:ext cx="1896365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Conector angulado 46"/>
          <p:cNvCxnSpPr>
            <a:cxnSpLocks/>
            <a:stCxn id="22" idx="2"/>
            <a:endCxn id="20" idx="2"/>
          </p:cNvCxnSpPr>
          <p:nvPr/>
        </p:nvCxnSpPr>
        <p:spPr>
          <a:xfrm rot="5400000">
            <a:off x="6099848" y="2252326"/>
            <a:ext cx="12700" cy="6416687"/>
          </a:xfrm>
          <a:prstGeom prst="bentConnector3">
            <a:avLst>
              <a:gd name="adj1" fmla="val 1800000"/>
            </a:avLst>
          </a:prstGeom>
          <a:ln>
            <a:solidFill>
              <a:schemeClr val="accent4">
                <a:lumMod val="75000"/>
              </a:schemeClr>
            </a:solidFill>
            <a:tailEnd type="arrow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5" name="Espaço Reservado para Rodapé 7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88" name="Espaço Reservado para Número de Slide 8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2E612-F649-4961-BD4C-5D55417D49C5}" type="slidenum">
              <a:rPr lang="pt-BR" smtClean="0"/>
              <a:t>15</a:t>
            </a:fld>
            <a:endParaRPr lang="pt-BR"/>
          </a:p>
        </p:txBody>
      </p:sp>
      <p:sp>
        <p:nvSpPr>
          <p:cNvPr id="85" name="Explosão 1 84"/>
          <p:cNvSpPr/>
          <p:nvPr/>
        </p:nvSpPr>
        <p:spPr>
          <a:xfrm>
            <a:off x="4181927" y="2568062"/>
            <a:ext cx="3637085" cy="1620039"/>
          </a:xfrm>
          <a:prstGeom prst="irregularSeal1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b="1" dirty="0"/>
              <a:t>INTERVENÇÃO</a:t>
            </a:r>
          </a:p>
        </p:txBody>
      </p:sp>
      <p:cxnSp>
        <p:nvCxnSpPr>
          <p:cNvPr id="31" name="Conector de seta reta 37">
            <a:extLst>
              <a:ext uri="{FF2B5EF4-FFF2-40B4-BE49-F238E27FC236}">
                <a16:creationId xmlns:a16="http://schemas.microsoft.com/office/drawing/2014/main" id="{A334558E-F22A-4772-8512-E4E2AB101B11}"/>
              </a:ext>
            </a:extLst>
          </p:cNvPr>
          <p:cNvCxnSpPr/>
          <p:nvPr/>
        </p:nvCxnSpPr>
        <p:spPr>
          <a:xfrm>
            <a:off x="3701504" y="5373216"/>
            <a:ext cx="1280322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Conector de seta reta 37">
            <a:extLst>
              <a:ext uri="{FF2B5EF4-FFF2-40B4-BE49-F238E27FC236}">
                <a16:creationId xmlns:a16="http://schemas.microsoft.com/office/drawing/2014/main" id="{6D1FE291-6B26-4EAC-AEFB-8F4CB89EC74F}"/>
              </a:ext>
            </a:extLst>
          </p:cNvPr>
          <p:cNvCxnSpPr>
            <a:cxnSpLocks/>
          </p:cNvCxnSpPr>
          <p:nvPr/>
        </p:nvCxnSpPr>
        <p:spPr>
          <a:xfrm>
            <a:off x="6601826" y="5373216"/>
            <a:ext cx="1896365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2844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numCol="1">
            <a:normAutofit/>
          </a:bodyPr>
          <a:lstStyle/>
          <a:p>
            <a:r>
              <a:rPr lang="pt-BR" dirty="0"/>
              <a:t>Em </a:t>
            </a:r>
            <a:r>
              <a:rPr lang="pt-BR" b="1" dirty="0"/>
              <a:t>1993</a:t>
            </a:r>
            <a:r>
              <a:rPr lang="pt-BR" dirty="0"/>
              <a:t>, Jakob Nielsen definiu </a:t>
            </a:r>
            <a:r>
              <a:rPr lang="pt-BR" b="1" dirty="0"/>
              <a:t>engenharia de usabilidade </a:t>
            </a:r>
            <a:r>
              <a:rPr lang="pt-BR" dirty="0"/>
              <a:t>como um </a:t>
            </a:r>
            <a:r>
              <a:rPr lang="pt-BR" b="1" dirty="0"/>
              <a:t>conjunto de atividades </a:t>
            </a:r>
            <a:r>
              <a:rPr lang="pt-BR" dirty="0"/>
              <a:t>que devem ocorrer nos </a:t>
            </a:r>
            <a:r>
              <a:rPr lang="pt-BR" b="1" dirty="0"/>
              <a:t>estágios iniciais </a:t>
            </a:r>
            <a:r>
              <a:rPr lang="pt-BR" dirty="0"/>
              <a:t>de projeto antes de se projetar a interface.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16</a:t>
            </a:fld>
            <a:endParaRPr lang="pt-BR"/>
          </a:p>
        </p:txBody>
      </p:sp>
      <p:sp>
        <p:nvSpPr>
          <p:cNvPr id="7" name="Espaço Reservado para Conteúdo 2"/>
          <p:cNvSpPr txBox="1">
            <a:spLocks/>
          </p:cNvSpPr>
          <p:nvPr/>
        </p:nvSpPr>
        <p:spPr>
          <a:xfrm>
            <a:off x="323850" y="2991297"/>
            <a:ext cx="11091664" cy="3185666"/>
          </a:xfrm>
          <a:prstGeom prst="rect">
            <a:avLst/>
          </a:prstGeom>
        </p:spPr>
        <p:txBody>
          <a:bodyPr vert="horz" lIns="91440" tIns="45720" rIns="91440" bIns="45720" numCol="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Atividades propostas: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2"/>
                </a:solidFill>
              </a:rPr>
              <a:t>Conheça seu usuário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2"/>
                </a:solidFill>
              </a:rPr>
              <a:t>Realize uma análise competitiva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 err="1">
                <a:solidFill>
                  <a:schemeClr val="accent2"/>
                </a:solidFill>
              </a:rPr>
              <a:t>Deﬁna</a:t>
            </a:r>
            <a:r>
              <a:rPr lang="pt-BR" dirty="0">
                <a:solidFill>
                  <a:schemeClr val="accent2"/>
                </a:solidFill>
              </a:rPr>
              <a:t> as metas de usabilidade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5"/>
                </a:solidFill>
              </a:rPr>
              <a:t>Faça designs paralelos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5"/>
                </a:solidFill>
              </a:rPr>
              <a:t>Adote o design participativo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5"/>
                </a:solidFill>
              </a:rPr>
              <a:t>Faça o design coordenado da interface como um todo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endParaRPr lang="pt-BR" dirty="0">
              <a:solidFill>
                <a:schemeClr val="accent5"/>
              </a:solidFill>
            </a:endParaRP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5"/>
                </a:solidFill>
              </a:rPr>
              <a:t>Aplique diretrizes e </a:t>
            </a:r>
            <a:r>
              <a:rPr lang="pt-BR" dirty="0">
                <a:solidFill>
                  <a:srgbClr val="00B050"/>
                </a:solidFill>
              </a:rPr>
              <a:t>análise heurística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5"/>
                </a:solidFill>
              </a:rPr>
              <a:t>Faça protótipos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rgbClr val="00B050"/>
                </a:solidFill>
              </a:rPr>
              <a:t>Realize testes empíricos 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chemeClr val="accent5"/>
                </a:solidFill>
              </a:rPr>
              <a:t>Pratique design iterativo</a:t>
            </a:r>
          </a:p>
          <a:p>
            <a:pPr marL="822960" lvl="1" indent="-457200">
              <a:buSzPct val="100000"/>
              <a:buFont typeface="+mj-lt"/>
              <a:buAutoNum type="arabicPeriod"/>
            </a:pPr>
            <a:r>
              <a:rPr lang="pt-BR" dirty="0">
                <a:solidFill>
                  <a:srgbClr val="00B050"/>
                </a:solidFill>
              </a:rPr>
              <a:t>Colete dados de uso</a:t>
            </a:r>
          </a:p>
          <a:p>
            <a:pPr lvl="1"/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6009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8650" lvl="1" indent="-514350">
              <a:buFont typeface="+mj-lt"/>
              <a:buAutoNum type="arabicPeriod"/>
            </a:pPr>
            <a:r>
              <a:rPr lang="pt-BR" sz="2800" dirty="0"/>
              <a:t>Conheça seu </a:t>
            </a:r>
            <a:r>
              <a:rPr lang="pt-BR" sz="2800" b="1" dirty="0"/>
              <a:t>usuário</a:t>
            </a:r>
          </a:p>
          <a:p>
            <a:pPr marL="457200" lvl="1" indent="-342900"/>
            <a:endParaRPr lang="pt-BR" sz="2400" dirty="0"/>
          </a:p>
          <a:p>
            <a:pPr marL="457200" lvl="1" indent="-342900"/>
            <a:r>
              <a:rPr lang="pt-BR" sz="2400" dirty="0"/>
              <a:t>As características de </a:t>
            </a:r>
            <a:r>
              <a:rPr lang="pt-BR" sz="2400" b="1" dirty="0"/>
              <a:t>usuários</a:t>
            </a:r>
            <a:r>
              <a:rPr lang="pt-BR" sz="2400" dirty="0"/>
              <a:t> e a variabilidade nas </a:t>
            </a:r>
            <a:r>
              <a:rPr lang="pt-BR" sz="2400" b="1" dirty="0"/>
              <a:t>tarefas</a:t>
            </a:r>
            <a:r>
              <a:rPr lang="pt-BR" sz="2400" dirty="0"/>
              <a:t> são os fatores de maior impacto na usabilidade</a:t>
            </a:r>
          </a:p>
          <a:p>
            <a:pPr marL="457200" lvl="1" indent="-342900"/>
            <a:r>
              <a:rPr lang="pt-BR" sz="2400" dirty="0"/>
              <a:t>É preciso </a:t>
            </a:r>
            <a:r>
              <a:rPr lang="pt-BR" sz="2400" b="1" dirty="0"/>
              <a:t>conhecer</a:t>
            </a:r>
            <a:r>
              <a:rPr lang="pt-BR" sz="2400" dirty="0"/>
              <a:t> as características individuais dos </a:t>
            </a:r>
            <a:r>
              <a:rPr lang="pt-BR" sz="2400" b="1" dirty="0"/>
              <a:t>usuários</a:t>
            </a:r>
            <a:r>
              <a:rPr lang="pt-BR" sz="2400" dirty="0"/>
              <a:t> e do seu </a:t>
            </a:r>
            <a:r>
              <a:rPr lang="pt-BR" sz="2400" b="1" dirty="0"/>
              <a:t>ambiente</a:t>
            </a:r>
            <a:r>
              <a:rPr lang="pt-BR" sz="2400" dirty="0"/>
              <a:t> físico e social de trabalho, suas </a:t>
            </a:r>
            <a:r>
              <a:rPr lang="pt-BR" sz="2400" b="1" dirty="0"/>
              <a:t>atividades</a:t>
            </a:r>
            <a:r>
              <a:rPr lang="pt-BR" sz="2400" dirty="0"/>
              <a:t> e as formas como lidam com circunstâncias excepcionais e emergenciais</a:t>
            </a:r>
          </a:p>
          <a:p>
            <a:pPr marL="457200" lvl="1" indent="-342900"/>
            <a:r>
              <a:rPr lang="pt-BR" sz="2400" dirty="0"/>
              <a:t>É fundamental ir </a:t>
            </a:r>
            <a:r>
              <a:rPr lang="pt-BR" sz="2400" b="1" dirty="0"/>
              <a:t>além</a:t>
            </a:r>
            <a:r>
              <a:rPr lang="pt-BR" sz="2400" dirty="0"/>
              <a:t> das atividades dos usuários, buscando identificar a </a:t>
            </a:r>
            <a:r>
              <a:rPr lang="pt-BR" sz="2400" b="1" dirty="0"/>
              <a:t>razão funcional </a:t>
            </a:r>
            <a:r>
              <a:rPr lang="pt-BR" sz="2400" dirty="0"/>
              <a:t>subjacente a cada atividade</a:t>
            </a:r>
          </a:p>
          <a:p>
            <a:pPr marL="914400" lvl="2" indent="-342900"/>
            <a:r>
              <a:rPr lang="pt-BR" sz="2400" dirty="0"/>
              <a:t>Identificar quais os </a:t>
            </a:r>
            <a:r>
              <a:rPr lang="pt-BR" sz="2400" b="1" dirty="0"/>
              <a:t>objetivos finais </a:t>
            </a:r>
            <a:r>
              <a:rPr lang="pt-BR" sz="2400" dirty="0"/>
              <a:t>dos usuários</a:t>
            </a:r>
          </a:p>
          <a:p>
            <a:pPr marL="457200" lvl="1" indent="-342900"/>
            <a:r>
              <a:rPr lang="pt-BR" dirty="0"/>
              <a:t>Os usuários não serão os mesmos após a introdução do sistema.</a:t>
            </a:r>
          </a:p>
          <a:p>
            <a:pPr marL="617220" lvl="2"/>
            <a:endParaRPr lang="pt-BR" dirty="0"/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6689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8650" lvl="1" indent="-514350">
              <a:buFont typeface="+mj-lt"/>
              <a:buAutoNum type="arabicPeriod" startAt="2"/>
            </a:pPr>
            <a:r>
              <a:rPr lang="pt-BR" sz="2800" dirty="0"/>
              <a:t>Realize uma </a:t>
            </a:r>
            <a:r>
              <a:rPr lang="pt-BR" sz="2800" b="1" dirty="0"/>
              <a:t>análise competitiva</a:t>
            </a:r>
          </a:p>
          <a:p>
            <a:pPr marL="571500" lvl="1" indent="-457200"/>
            <a:endParaRPr lang="pt-BR" dirty="0"/>
          </a:p>
          <a:p>
            <a:pPr marL="571500" lvl="1" indent="-457200"/>
            <a:r>
              <a:rPr lang="pt-BR" dirty="0"/>
              <a:t>Examinar produtos com funcionalidades </a:t>
            </a:r>
            <a:r>
              <a:rPr lang="pt-BR" b="1" dirty="0"/>
              <a:t>semelhantes</a:t>
            </a:r>
            <a:r>
              <a:rPr lang="pt-BR" dirty="0"/>
              <a:t> ou </a:t>
            </a:r>
            <a:r>
              <a:rPr lang="pt-BR" b="1" dirty="0"/>
              <a:t>complementares</a:t>
            </a:r>
          </a:p>
          <a:p>
            <a:pPr marL="571500" lvl="1" indent="-457200"/>
            <a:r>
              <a:rPr lang="pt-BR" dirty="0"/>
              <a:t>Os produtos podem ser testados com mais </a:t>
            </a:r>
            <a:r>
              <a:rPr lang="pt-BR" b="1" dirty="0"/>
              <a:t>facilidade</a:t>
            </a:r>
            <a:r>
              <a:rPr lang="pt-BR" dirty="0"/>
              <a:t> e </a:t>
            </a:r>
            <a:r>
              <a:rPr lang="pt-BR" b="1" dirty="0"/>
              <a:t>realismo</a:t>
            </a:r>
            <a:r>
              <a:rPr lang="pt-BR" dirty="0"/>
              <a:t> do que </a:t>
            </a:r>
            <a:r>
              <a:rPr lang="pt-BR" b="1" dirty="0"/>
              <a:t>protótipos</a:t>
            </a:r>
          </a:p>
          <a:p>
            <a:pPr marL="571500" lvl="1" indent="-457200"/>
            <a:r>
              <a:rPr lang="pt-BR" dirty="0"/>
              <a:t>O designer pode obter um conjunto de </a:t>
            </a:r>
            <a:r>
              <a:rPr lang="pt-BR" b="1" dirty="0"/>
              <a:t>informações</a:t>
            </a:r>
            <a:r>
              <a:rPr lang="pt-BR" dirty="0"/>
              <a:t> sobre o que funciona e o que não funciona naquele domínio, o que poderá ser aperfeiçoado etc.</a:t>
            </a:r>
          </a:p>
          <a:p>
            <a:pPr marL="571500" lvl="1" indent="-457200"/>
            <a:r>
              <a:rPr lang="pt-BR" dirty="0"/>
              <a:t>A análise competitiva envolve não apenas sistemas, mas também qualquer </a:t>
            </a:r>
            <a:r>
              <a:rPr lang="pt-BR" b="1" dirty="0"/>
              <a:t>outra atividade </a:t>
            </a:r>
            <a:r>
              <a:rPr lang="pt-BR" dirty="0"/>
              <a:t>com objetivos semelhantes</a:t>
            </a:r>
          </a:p>
          <a:p>
            <a:pPr marL="1028700" lvl="2" indent="-457200"/>
            <a:r>
              <a:rPr lang="pt-BR" sz="2400" dirty="0"/>
              <a:t>Agenda eletrônica x agenda em papel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3283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lvl="1" indent="-457200">
              <a:buFont typeface="+mj-lt"/>
              <a:buAutoNum type="arabicPeriod" startAt="3"/>
            </a:pPr>
            <a:r>
              <a:rPr lang="pt-BR" sz="2800" dirty="0"/>
              <a:t>Defina as </a:t>
            </a:r>
            <a:r>
              <a:rPr lang="pt-BR" sz="2800" b="1" dirty="0"/>
              <a:t>metas</a:t>
            </a:r>
            <a:r>
              <a:rPr lang="pt-BR" sz="2800" dirty="0"/>
              <a:t> de usabilidade</a:t>
            </a:r>
          </a:p>
          <a:p>
            <a:pPr marL="457200" lvl="1" indent="-342900"/>
            <a:endParaRPr lang="pt-BR" dirty="0"/>
          </a:p>
          <a:p>
            <a:pPr marL="457200" lvl="1" indent="-342900"/>
            <a:r>
              <a:rPr lang="pt-BR" dirty="0"/>
              <a:t>Definir os </a:t>
            </a:r>
            <a:r>
              <a:rPr lang="pt-BR" b="1" dirty="0"/>
              <a:t>fatores de qualidade de uso </a:t>
            </a:r>
            <a:r>
              <a:rPr lang="pt-BR" dirty="0"/>
              <a:t>que devem ser priorizados no projeto, como serão avaliados e quais as </a:t>
            </a:r>
            <a:r>
              <a:rPr lang="pt-BR" b="1" dirty="0"/>
              <a:t>faixas de valores </a:t>
            </a:r>
            <a:r>
              <a:rPr lang="pt-BR" dirty="0"/>
              <a:t>inaceitáveis, aceitáveis e ideais</a:t>
            </a:r>
          </a:p>
          <a:p>
            <a:pPr marL="457200" lvl="1" indent="-342900"/>
            <a:r>
              <a:rPr lang="pt-BR" dirty="0"/>
              <a:t>Essa priorização é baseada nos </a:t>
            </a:r>
            <a:r>
              <a:rPr lang="pt-BR" b="1" dirty="0"/>
              <a:t>indicadores</a:t>
            </a:r>
            <a:r>
              <a:rPr lang="pt-BR" dirty="0"/>
              <a:t> de desempenho dos usuários ao utilizarem o sistema</a:t>
            </a:r>
          </a:p>
          <a:p>
            <a:pPr marL="457200" lvl="1" indent="-342900"/>
            <a:r>
              <a:rPr lang="pt-BR" dirty="0"/>
              <a:t>Durante as metas de usabilidade, podemos estabelecer também metas de </a:t>
            </a:r>
            <a:r>
              <a:rPr lang="pt-BR" b="1" dirty="0"/>
              <a:t>retorno de investimento </a:t>
            </a:r>
            <a:r>
              <a:rPr lang="pt-BR" dirty="0"/>
              <a:t>(ROI), através de uma </a:t>
            </a:r>
            <a:r>
              <a:rPr lang="pt-BR" b="1" dirty="0"/>
              <a:t>análise de custo e benefício</a:t>
            </a:r>
            <a:r>
              <a:rPr lang="pt-BR" dirty="0"/>
              <a:t> envolvendo as despesas com o projeto do novo sistema e a economia que o seu uso deve proporcionar</a:t>
            </a:r>
          </a:p>
          <a:p>
            <a:pPr marL="914400" lvl="2" indent="-342900"/>
            <a:r>
              <a:rPr lang="pt-BR" sz="2400" dirty="0"/>
              <a:t>Calcular o tempo que um funcionário leva para realizar o seu trabalho antes e depois da introdução do novo sistema</a:t>
            </a:r>
          </a:p>
          <a:p>
            <a:pPr marL="617220" lvl="2"/>
            <a:endParaRPr lang="pt-BR" sz="2400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213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lvl="1" indent="-457200">
              <a:buFont typeface="+mj-lt"/>
              <a:buAutoNum type="arabicPeriod" startAt="4"/>
            </a:pPr>
            <a:r>
              <a:rPr lang="pt-BR" sz="2800" dirty="0"/>
              <a:t>Faça </a:t>
            </a:r>
            <a:r>
              <a:rPr lang="pt-BR" sz="2800" b="1" dirty="0"/>
              <a:t>designs paralelos</a:t>
            </a:r>
          </a:p>
          <a:p>
            <a:pPr marL="457200" lvl="1" indent="-342900"/>
            <a:endParaRPr lang="pt-BR" dirty="0"/>
          </a:p>
          <a:p>
            <a:pPr marL="457200" lvl="1" indent="-342900"/>
            <a:r>
              <a:rPr lang="pt-BR" dirty="0"/>
              <a:t>Consiste em elaborar </a:t>
            </a:r>
            <a:r>
              <a:rPr lang="pt-BR" b="1" dirty="0"/>
              <a:t>diferentes alternativas </a:t>
            </a:r>
            <a:r>
              <a:rPr lang="pt-BR" dirty="0"/>
              <a:t>de design, com designers trabalhando de forma </a:t>
            </a:r>
            <a:r>
              <a:rPr lang="pt-BR" b="1" dirty="0"/>
              <a:t>independente</a:t>
            </a:r>
          </a:p>
          <a:p>
            <a:pPr marL="457200" lvl="1" indent="-342900"/>
            <a:r>
              <a:rPr lang="pt-BR" dirty="0"/>
              <a:t>Depois deve-se selecionar quais </a:t>
            </a:r>
            <a:r>
              <a:rPr lang="pt-BR" b="1" dirty="0"/>
              <a:t>alternativas</a:t>
            </a:r>
            <a:r>
              <a:rPr lang="pt-BR" dirty="0"/>
              <a:t> serão </a:t>
            </a:r>
            <a:r>
              <a:rPr lang="pt-BR" b="1" dirty="0"/>
              <a:t>detalhadas</a:t>
            </a:r>
            <a:r>
              <a:rPr lang="pt-BR" dirty="0"/>
              <a:t> nas atividades seguintes do processo</a:t>
            </a:r>
          </a:p>
          <a:p>
            <a:pPr marL="457200" lvl="1" indent="-342900"/>
            <a:r>
              <a:rPr lang="pt-BR" dirty="0"/>
              <a:t>Cada designer deve empregar </a:t>
            </a:r>
            <a:r>
              <a:rPr lang="pt-BR" b="1" dirty="0"/>
              <a:t>pouco tempo </a:t>
            </a:r>
            <a:r>
              <a:rPr lang="pt-BR" dirty="0"/>
              <a:t>para elaborar suas ideias iniciais</a:t>
            </a:r>
          </a:p>
          <a:p>
            <a:pPr marL="457200" lvl="1" indent="-342900"/>
            <a:r>
              <a:rPr lang="pt-BR" dirty="0"/>
              <a:t>Ao final, as soluções alternativas são </a:t>
            </a:r>
            <a:r>
              <a:rPr lang="pt-BR" b="1" dirty="0"/>
              <a:t>analisadas</a:t>
            </a:r>
            <a:r>
              <a:rPr lang="pt-BR" dirty="0"/>
              <a:t> e um </a:t>
            </a:r>
            <a:r>
              <a:rPr lang="pt-BR" b="1" dirty="0"/>
              <a:t>design consolidado </a:t>
            </a:r>
            <a:r>
              <a:rPr lang="pt-BR" dirty="0"/>
              <a:t>é elaborado, geralmente </a:t>
            </a:r>
            <a:r>
              <a:rPr lang="pt-BR" b="1" dirty="0"/>
              <a:t>combinando</a:t>
            </a:r>
            <a:r>
              <a:rPr lang="pt-BR" dirty="0"/>
              <a:t> elementos de mais de uma alternativa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5125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lvl="1" indent="-457200">
              <a:buFont typeface="+mj-lt"/>
              <a:buAutoNum type="arabicPeriod" startAt="5"/>
            </a:pPr>
            <a:r>
              <a:rPr lang="pt-BR" sz="2800" dirty="0"/>
              <a:t>Adote o </a:t>
            </a:r>
            <a:r>
              <a:rPr lang="pt-BR" sz="2800" b="1" dirty="0"/>
              <a:t>design participativo</a:t>
            </a:r>
          </a:p>
          <a:p>
            <a:pPr marL="457200" lvl="1" indent="-342900"/>
            <a:endParaRPr lang="pt-BR" dirty="0"/>
          </a:p>
          <a:p>
            <a:pPr marL="457200" lvl="1" indent="-342900"/>
            <a:r>
              <a:rPr lang="pt-BR" dirty="0"/>
              <a:t>A equipe de design tem acesso permanente a um conjunto de </a:t>
            </a:r>
            <a:r>
              <a:rPr lang="pt-BR" b="1" dirty="0"/>
              <a:t>usuários representativos </a:t>
            </a:r>
            <a:r>
              <a:rPr lang="pt-BR" dirty="0"/>
              <a:t>da população-alvo de usuários</a:t>
            </a:r>
          </a:p>
          <a:p>
            <a:pPr marL="457200" lvl="1" indent="-342900"/>
            <a:r>
              <a:rPr lang="pt-BR" dirty="0"/>
              <a:t>Os usuários </a:t>
            </a:r>
            <a:r>
              <a:rPr lang="pt-BR" b="1" dirty="0"/>
              <a:t>não são </a:t>
            </a:r>
            <a:r>
              <a:rPr lang="pt-BR" dirty="0"/>
              <a:t>designers</a:t>
            </a:r>
          </a:p>
          <a:p>
            <a:pPr marL="914400" lvl="2" indent="-342900"/>
            <a:r>
              <a:rPr lang="pt-BR" sz="2400" dirty="0"/>
              <a:t>Não podemos esperar que eles </a:t>
            </a:r>
            <a:r>
              <a:rPr lang="pt-BR" sz="2400" b="1" dirty="0"/>
              <a:t>produzam designs </a:t>
            </a:r>
            <a:r>
              <a:rPr lang="pt-BR" sz="2400" dirty="0"/>
              <a:t>ou </a:t>
            </a:r>
            <a:r>
              <a:rPr lang="pt-BR" sz="2400" b="1" dirty="0"/>
              <a:t>entendam especificações </a:t>
            </a:r>
            <a:r>
              <a:rPr lang="pt-BR" sz="2400" dirty="0"/>
              <a:t>produzidas, nem mesmo que </a:t>
            </a:r>
            <a:r>
              <a:rPr lang="pt-BR" sz="2400" b="1" dirty="0"/>
              <a:t>saibam definir </a:t>
            </a:r>
            <a:r>
              <a:rPr lang="pt-BR" sz="2400" dirty="0"/>
              <a:t>com clareza o que querem ou precisam</a:t>
            </a:r>
          </a:p>
          <a:p>
            <a:pPr marL="914400" lvl="2" indent="-342900"/>
            <a:r>
              <a:rPr lang="pt-BR" sz="2400" dirty="0"/>
              <a:t>É necessário produzir </a:t>
            </a:r>
            <a:r>
              <a:rPr lang="pt-BR" sz="2400" b="1" dirty="0"/>
              <a:t>representações</a:t>
            </a:r>
            <a:r>
              <a:rPr lang="pt-BR" sz="2400" dirty="0"/>
              <a:t> fáceis de entender</a:t>
            </a:r>
          </a:p>
          <a:p>
            <a:pPr marL="1371600" lvl="3" indent="-342900"/>
            <a:r>
              <a:rPr lang="pt-BR" sz="2400" dirty="0"/>
              <a:t>Protótipos, maquetes, esboços de tela</a:t>
            </a:r>
          </a:p>
          <a:p>
            <a:pPr marL="457200" lvl="1" indent="-342900"/>
            <a:r>
              <a:rPr lang="pt-BR" dirty="0"/>
              <a:t>Devemos envolver </a:t>
            </a:r>
            <a:r>
              <a:rPr lang="pt-BR" b="1" dirty="0"/>
              <a:t>diferentes</a:t>
            </a:r>
            <a:r>
              <a:rPr lang="pt-BR" dirty="0"/>
              <a:t> usuários</a:t>
            </a:r>
          </a:p>
          <a:p>
            <a:pPr lvl="3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67430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1" indent="-457200">
              <a:buFont typeface="+mj-lt"/>
              <a:buAutoNum type="arabicPeriod" startAt="6"/>
            </a:pPr>
            <a:r>
              <a:rPr lang="pt-BR" sz="2800" dirty="0"/>
              <a:t>Faça o </a:t>
            </a:r>
            <a:r>
              <a:rPr lang="pt-BR" sz="2800" b="1" dirty="0"/>
              <a:t>design coordenado </a:t>
            </a:r>
            <a:r>
              <a:rPr lang="pt-BR" sz="2800" dirty="0"/>
              <a:t>da interface como um todo</a:t>
            </a:r>
          </a:p>
          <a:p>
            <a:pPr marL="457200" lvl="1" indent="-342900"/>
            <a:endParaRPr lang="pt-BR" dirty="0"/>
          </a:p>
          <a:p>
            <a:pPr marL="457200" lvl="1" indent="-342900"/>
            <a:r>
              <a:rPr lang="pt-BR" dirty="0"/>
              <a:t>É importante haver um </a:t>
            </a:r>
            <a:r>
              <a:rPr lang="pt-BR" b="1" dirty="0"/>
              <a:t>responsável</a:t>
            </a:r>
            <a:r>
              <a:rPr lang="pt-BR" dirty="0"/>
              <a:t> pelo design coordenado da interface para evitar </a:t>
            </a:r>
            <a:r>
              <a:rPr lang="pt-BR" b="1" dirty="0"/>
              <a:t>inconsistências</a:t>
            </a:r>
          </a:p>
          <a:p>
            <a:pPr marL="914400" lvl="2" indent="-342900"/>
            <a:r>
              <a:rPr lang="pt-BR" sz="2400" dirty="0"/>
              <a:t>Inclui a interface, a documentação, os sistemas de ajuda etc.</a:t>
            </a:r>
          </a:p>
          <a:p>
            <a:pPr marL="457200" lvl="1" indent="-342900"/>
            <a:r>
              <a:rPr lang="pt-BR" dirty="0"/>
              <a:t>Caso o produto faça parte de uma </a:t>
            </a:r>
            <a:r>
              <a:rPr lang="pt-BR" b="1" dirty="0"/>
              <a:t>família</a:t>
            </a:r>
            <a:r>
              <a:rPr lang="pt-BR" dirty="0"/>
              <a:t> de produtos, devemos manter a </a:t>
            </a:r>
            <a:r>
              <a:rPr lang="pt-BR" b="1" dirty="0"/>
              <a:t>consistência</a:t>
            </a:r>
            <a:r>
              <a:rPr lang="pt-BR" dirty="0"/>
              <a:t> entre eles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31668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0" lvl="1" indent="-457200">
              <a:buFont typeface="+mj-lt"/>
              <a:buAutoNum type="arabicPeriod" startAt="7"/>
            </a:pPr>
            <a:r>
              <a:rPr lang="pt-BR" sz="2800" dirty="0"/>
              <a:t>Aplique </a:t>
            </a:r>
            <a:r>
              <a:rPr lang="pt-BR" sz="2800" b="1" dirty="0"/>
              <a:t>diretrizes</a:t>
            </a:r>
            <a:r>
              <a:rPr lang="pt-BR" sz="2800" dirty="0"/>
              <a:t> e análise </a:t>
            </a:r>
            <a:r>
              <a:rPr lang="pt-BR" sz="2800" b="1" dirty="0"/>
              <a:t>heurística</a:t>
            </a:r>
          </a:p>
          <a:p>
            <a:pPr marL="457200" lvl="1" indent="-342900"/>
            <a:endParaRPr lang="pt-BR" dirty="0"/>
          </a:p>
          <a:p>
            <a:pPr marL="457200" lvl="1" indent="-342900"/>
            <a:r>
              <a:rPr lang="pt-BR" dirty="0"/>
              <a:t>As diretrizes são </a:t>
            </a:r>
            <a:r>
              <a:rPr lang="pt-BR" b="1" dirty="0"/>
              <a:t>princípios</a:t>
            </a:r>
            <a:r>
              <a:rPr lang="pt-BR" dirty="0"/>
              <a:t> bem conhecidos para o design da interface</a:t>
            </a:r>
          </a:p>
          <a:p>
            <a:pPr marL="457200" lvl="1" indent="-342900"/>
            <a:r>
              <a:rPr lang="pt-BR" dirty="0"/>
              <a:t>A medida que a interface for projetada, deve ser feita uma </a:t>
            </a:r>
            <a:r>
              <a:rPr lang="pt-BR" b="1" dirty="0"/>
              <a:t>avaliação heurística </a:t>
            </a:r>
            <a:r>
              <a:rPr lang="pt-BR" dirty="0"/>
              <a:t>para avaliar se as diretrizes não estão sendo violadas</a:t>
            </a:r>
          </a:p>
          <a:p>
            <a:pPr marL="457200" lvl="1" indent="-342900"/>
            <a:r>
              <a:rPr lang="pt-BR" dirty="0"/>
              <a:t>As heurísticas podem ser:</a:t>
            </a:r>
          </a:p>
          <a:p>
            <a:pPr marL="914400" lvl="2" indent="-342900"/>
            <a:r>
              <a:rPr lang="pt-BR" sz="2400" b="1" dirty="0"/>
              <a:t>Gerais</a:t>
            </a:r>
            <a:r>
              <a:rPr lang="pt-BR" sz="2400" dirty="0"/>
              <a:t> </a:t>
            </a:r>
            <a:r>
              <a:rPr lang="pt-BR" sz="2400" dirty="0">
                <a:sym typeface="Wingdings" panose="05000000000000000000" pitchFamily="2" charset="2"/>
              </a:rPr>
              <a:t></a:t>
            </a:r>
            <a:r>
              <a:rPr lang="pt-BR" sz="2400" dirty="0"/>
              <a:t> aplicáveis a todas as interfaces com usuário</a:t>
            </a:r>
          </a:p>
          <a:p>
            <a:pPr marL="914400" lvl="2" indent="-342900"/>
            <a:r>
              <a:rPr lang="pt-BR" sz="2400" b="1" dirty="0"/>
              <a:t>Específicas</a:t>
            </a:r>
            <a:r>
              <a:rPr lang="pt-BR" sz="2400" dirty="0"/>
              <a:t> </a:t>
            </a:r>
            <a:r>
              <a:rPr lang="pt-BR" sz="2400" dirty="0">
                <a:sym typeface="Wingdings" panose="05000000000000000000" pitchFamily="2" charset="2"/>
              </a:rPr>
              <a:t> a uma categoria ou plataforma ou a um produto individual</a:t>
            </a:r>
            <a:endParaRPr lang="pt-BR" sz="240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2079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1500" lvl="1" indent="-457200">
              <a:buFont typeface="+mj-lt"/>
              <a:buAutoNum type="arabicPeriod" startAt="8"/>
            </a:pPr>
            <a:r>
              <a:rPr lang="pt-BR" sz="2800" dirty="0"/>
              <a:t>Faça </a:t>
            </a:r>
            <a:r>
              <a:rPr lang="pt-BR" sz="2800" b="1" dirty="0"/>
              <a:t>protótipos</a:t>
            </a:r>
          </a:p>
          <a:p>
            <a:pPr marL="457200" lvl="1" indent="-342900"/>
            <a:endParaRPr lang="pt-BR" dirty="0"/>
          </a:p>
          <a:p>
            <a:pPr marL="457200" lvl="1" indent="-342900"/>
            <a:r>
              <a:rPr lang="pt-BR" dirty="0"/>
              <a:t>Recomenda-se fazer protótipos </a:t>
            </a:r>
            <a:r>
              <a:rPr lang="pt-BR" b="1" dirty="0"/>
              <a:t>antes</a:t>
            </a:r>
            <a:r>
              <a:rPr lang="pt-BR" dirty="0"/>
              <a:t> de se iniciar a </a:t>
            </a:r>
            <a:r>
              <a:rPr lang="pt-BR" b="1" dirty="0"/>
              <a:t>implementação</a:t>
            </a:r>
            <a:r>
              <a:rPr lang="pt-BR" dirty="0"/>
              <a:t> da interface</a:t>
            </a:r>
          </a:p>
          <a:p>
            <a:pPr marL="914400" lvl="2" indent="-342900"/>
            <a:r>
              <a:rPr lang="pt-BR" sz="2400" dirty="0"/>
              <a:t>Podem ser desenvolvidos </a:t>
            </a:r>
            <a:r>
              <a:rPr lang="pt-BR" sz="2400" b="1" dirty="0"/>
              <a:t>rapidamente</a:t>
            </a:r>
            <a:r>
              <a:rPr lang="pt-BR" sz="2400" dirty="0"/>
              <a:t> e a um </a:t>
            </a:r>
            <a:r>
              <a:rPr lang="pt-BR" sz="2400" b="1" dirty="0"/>
              <a:t>custo baixo</a:t>
            </a:r>
            <a:r>
              <a:rPr lang="pt-BR" sz="2400" dirty="0"/>
              <a:t>, para que sejam </a:t>
            </a:r>
            <a:r>
              <a:rPr lang="pt-BR" sz="2400" b="1" dirty="0"/>
              <a:t>avaliados</a:t>
            </a:r>
            <a:r>
              <a:rPr lang="pt-BR" sz="2400" dirty="0"/>
              <a:t> junto a usuários</a:t>
            </a:r>
          </a:p>
          <a:p>
            <a:pPr marL="457200" lvl="1" indent="-342900"/>
            <a:r>
              <a:rPr lang="pt-BR" dirty="0"/>
              <a:t>Protótipo </a:t>
            </a:r>
            <a:r>
              <a:rPr lang="pt-BR" b="1" dirty="0"/>
              <a:t>horizontal</a:t>
            </a:r>
            <a:r>
              <a:rPr lang="pt-BR" dirty="0"/>
              <a:t> </a:t>
            </a:r>
            <a:r>
              <a:rPr lang="pt-BR" dirty="0">
                <a:sym typeface="Wingdings" panose="05000000000000000000" pitchFamily="2" charset="2"/>
              </a:rPr>
              <a:t> visa a apresentar o sistema em </a:t>
            </a:r>
            <a:r>
              <a:rPr lang="pt-BR" b="1" dirty="0">
                <a:sym typeface="Wingdings" panose="05000000000000000000" pitchFamily="2" charset="2"/>
              </a:rPr>
              <a:t>abrangência</a:t>
            </a:r>
            <a:r>
              <a:rPr lang="pt-BR" dirty="0">
                <a:sym typeface="Wingdings" panose="05000000000000000000" pitchFamily="2" charset="2"/>
              </a:rPr>
              <a:t>, mas com pouca profundidade</a:t>
            </a:r>
          </a:p>
          <a:p>
            <a:pPr marL="457200" lvl="1" indent="-342900"/>
            <a:r>
              <a:rPr lang="pt-BR" dirty="0">
                <a:sym typeface="Wingdings" panose="05000000000000000000" pitchFamily="2" charset="2"/>
              </a:rPr>
              <a:t>Protótipo </a:t>
            </a:r>
            <a:r>
              <a:rPr lang="pt-BR" b="1" dirty="0">
                <a:sym typeface="Wingdings" panose="05000000000000000000" pitchFamily="2" charset="2"/>
              </a:rPr>
              <a:t>vertical</a:t>
            </a:r>
            <a:r>
              <a:rPr lang="pt-BR" dirty="0">
                <a:sym typeface="Wingdings" panose="05000000000000000000" pitchFamily="2" charset="2"/>
              </a:rPr>
              <a:t>  pouca funcionalidade é explorada em </a:t>
            </a:r>
            <a:r>
              <a:rPr lang="pt-BR" b="1" dirty="0">
                <a:sym typeface="Wingdings" panose="05000000000000000000" pitchFamily="2" charset="2"/>
              </a:rPr>
              <a:t>profundidade</a:t>
            </a:r>
            <a:r>
              <a:rPr lang="pt-BR" dirty="0">
                <a:sym typeface="Wingdings" panose="05000000000000000000" pitchFamily="2" charset="2"/>
              </a:rPr>
              <a:t> para que seja testada em circunstâncias realistas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2355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8650" lvl="1" indent="-514350">
              <a:buFont typeface="+mj-lt"/>
              <a:buAutoNum type="arabicPeriod" startAt="9"/>
            </a:pPr>
            <a:r>
              <a:rPr lang="pt-BR" sz="2800" dirty="0"/>
              <a:t>Realize </a:t>
            </a:r>
            <a:r>
              <a:rPr lang="pt-BR" sz="2800" b="1" dirty="0"/>
              <a:t>testes empíricos</a:t>
            </a:r>
          </a:p>
          <a:p>
            <a:pPr marL="457200" lvl="1" indent="-342900"/>
            <a:endParaRPr lang="pt-BR" sz="2400" dirty="0">
              <a:sym typeface="Wingdings" panose="05000000000000000000" pitchFamily="2" charset="2"/>
            </a:endParaRPr>
          </a:p>
          <a:p>
            <a:pPr marL="457200" lvl="1" indent="-342900"/>
            <a:r>
              <a:rPr lang="pt-BR" sz="2400" dirty="0">
                <a:sym typeface="Wingdings" panose="05000000000000000000" pitchFamily="2" charset="2"/>
              </a:rPr>
              <a:t>Consistem na </a:t>
            </a:r>
            <a:r>
              <a:rPr lang="pt-BR" sz="2400" b="1" dirty="0">
                <a:sym typeface="Wingdings" panose="05000000000000000000" pitchFamily="2" charset="2"/>
              </a:rPr>
              <a:t>observação dos usuários </a:t>
            </a:r>
            <a:r>
              <a:rPr lang="pt-BR" sz="2400" dirty="0">
                <a:sym typeface="Wingdings" panose="05000000000000000000" pitchFamily="2" charset="2"/>
              </a:rPr>
              <a:t>ao utilizarem os protótipos para realizar certas tarefas</a:t>
            </a:r>
          </a:p>
          <a:p>
            <a:pPr marL="617220" lvl="2"/>
            <a:endParaRPr lang="pt-BR" sz="2400" dirty="0">
              <a:sym typeface="Wingdings" panose="05000000000000000000" pitchFamily="2" charset="2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371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+mj-lt"/>
              <a:buAutoNum type="arabicPeriod" startAt="10"/>
            </a:pPr>
            <a:r>
              <a:rPr lang="pt-BR" sz="2800" dirty="0"/>
              <a:t> Pratique </a:t>
            </a:r>
            <a:r>
              <a:rPr lang="pt-BR" sz="2800" b="1" dirty="0"/>
              <a:t>design iterativo</a:t>
            </a:r>
          </a:p>
          <a:p>
            <a:pPr marL="342900" lvl="2" indent="-342900"/>
            <a:endParaRPr lang="pt-BR" sz="2400" dirty="0">
              <a:sym typeface="Wingdings" panose="05000000000000000000" pitchFamily="2" charset="2"/>
            </a:endParaRPr>
          </a:p>
          <a:p>
            <a:pPr marL="342900" lvl="2" indent="-342900"/>
            <a:r>
              <a:rPr lang="pt-BR" sz="2400" dirty="0">
                <a:sym typeface="Wingdings" panose="05000000000000000000" pitchFamily="2" charset="2"/>
              </a:rPr>
              <a:t>Com base nos </a:t>
            </a:r>
            <a:r>
              <a:rPr lang="pt-BR" sz="2400" b="1" dirty="0">
                <a:sym typeface="Wingdings" panose="05000000000000000000" pitchFamily="2" charset="2"/>
              </a:rPr>
              <a:t>problemas</a:t>
            </a:r>
            <a:r>
              <a:rPr lang="pt-BR" sz="2400" dirty="0">
                <a:sym typeface="Wingdings" panose="05000000000000000000" pitchFamily="2" charset="2"/>
              </a:rPr>
              <a:t> de usabilidade e nas </a:t>
            </a:r>
            <a:r>
              <a:rPr lang="pt-BR" sz="2400" b="1" dirty="0">
                <a:sym typeface="Wingdings" panose="05000000000000000000" pitchFamily="2" charset="2"/>
              </a:rPr>
              <a:t>oportunidades</a:t>
            </a:r>
            <a:r>
              <a:rPr lang="pt-BR" sz="2400" dirty="0">
                <a:sym typeface="Wingdings" panose="05000000000000000000" pitchFamily="2" charset="2"/>
              </a:rPr>
              <a:t> reveladas pelos testes, os designers produzem uma </a:t>
            </a:r>
            <a:r>
              <a:rPr lang="pt-BR" sz="2400" b="1" dirty="0">
                <a:sym typeface="Wingdings" panose="05000000000000000000" pitchFamily="2" charset="2"/>
              </a:rPr>
              <a:t>nova versão </a:t>
            </a:r>
            <a:r>
              <a:rPr lang="pt-BR" sz="2400" dirty="0">
                <a:sym typeface="Wingdings" panose="05000000000000000000" pitchFamily="2" charset="2"/>
              </a:rPr>
              <a:t>da interface, num processo de design iterativo</a:t>
            </a:r>
          </a:p>
          <a:p>
            <a:pPr marL="342900" lvl="2" indent="-342900"/>
            <a:r>
              <a:rPr lang="pt-BR" sz="2400" dirty="0">
                <a:sym typeface="Wingdings" panose="05000000000000000000" pitchFamily="2" charset="2"/>
              </a:rPr>
              <a:t>A cada iteração de design e avaliação alguns problemas são corrigidos (e introduzidos?) e o processo deve se </a:t>
            </a:r>
            <a:r>
              <a:rPr lang="pt-BR" sz="2400" b="1" dirty="0">
                <a:sym typeface="Wingdings" panose="05000000000000000000" pitchFamily="2" charset="2"/>
              </a:rPr>
              <a:t>repetir</a:t>
            </a:r>
            <a:r>
              <a:rPr lang="pt-BR" sz="2400" dirty="0">
                <a:sym typeface="Wingdings" panose="05000000000000000000" pitchFamily="2" charset="2"/>
              </a:rPr>
              <a:t> até que as </a:t>
            </a:r>
            <a:r>
              <a:rPr lang="pt-BR" sz="2400" b="1" dirty="0">
                <a:sym typeface="Wingdings" panose="05000000000000000000" pitchFamily="2" charset="2"/>
              </a:rPr>
              <a:t>metas</a:t>
            </a:r>
            <a:r>
              <a:rPr lang="pt-BR" sz="2400" dirty="0">
                <a:sym typeface="Wingdings" panose="05000000000000000000" pitchFamily="2" charset="2"/>
              </a:rPr>
              <a:t> de usabilidade tenham sido </a:t>
            </a:r>
            <a:r>
              <a:rPr lang="pt-BR" sz="2400" b="1" dirty="0">
                <a:sym typeface="Wingdings" panose="05000000000000000000" pitchFamily="2" charset="2"/>
              </a:rPr>
              <a:t>alcançadas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83949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Engenharia de Usabilidade de Nielsen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1" indent="-514350">
              <a:buFont typeface="+mj-lt"/>
              <a:buAutoNum type="arabicPeriod" startAt="11"/>
            </a:pPr>
            <a:r>
              <a:rPr lang="pt-BR" sz="2800" dirty="0"/>
              <a:t> Colete </a:t>
            </a:r>
            <a:r>
              <a:rPr lang="pt-BR" sz="2800" b="1" dirty="0"/>
              <a:t>dados de uso</a:t>
            </a:r>
          </a:p>
          <a:p>
            <a:pPr marL="342900" lvl="2" indent="-342900"/>
            <a:endParaRPr lang="pt-BR" sz="2400" dirty="0">
              <a:sym typeface="Wingdings" panose="05000000000000000000" pitchFamily="2" charset="2"/>
            </a:endParaRPr>
          </a:p>
          <a:p>
            <a:pPr marL="342900" lvl="2" indent="-342900"/>
            <a:r>
              <a:rPr lang="pt-BR" sz="2400" dirty="0">
                <a:sym typeface="Wingdings" panose="05000000000000000000" pitchFamily="2" charset="2"/>
              </a:rPr>
              <a:t>Após a </a:t>
            </a:r>
            <a:r>
              <a:rPr lang="pt-BR" sz="2400" b="1" dirty="0">
                <a:sym typeface="Wingdings" panose="05000000000000000000" pitchFamily="2" charset="2"/>
              </a:rPr>
              <a:t>introdução</a:t>
            </a:r>
            <a:r>
              <a:rPr lang="pt-BR" sz="2400" dirty="0">
                <a:sym typeface="Wingdings" panose="05000000000000000000" pitchFamily="2" charset="2"/>
              </a:rPr>
              <a:t> de um produto, devemos coletar dados de uso</a:t>
            </a:r>
          </a:p>
          <a:p>
            <a:pPr marL="342900" lvl="3" indent="-342900"/>
            <a:r>
              <a:rPr lang="pt-BR" sz="2400" dirty="0">
                <a:sym typeface="Wingdings" panose="05000000000000000000" pitchFamily="2" charset="2"/>
              </a:rPr>
              <a:t>Avaliar o </a:t>
            </a:r>
            <a:r>
              <a:rPr lang="pt-BR" sz="2400" b="1" dirty="0">
                <a:sym typeface="Wingdings" panose="05000000000000000000" pitchFamily="2" charset="2"/>
              </a:rPr>
              <a:t>retorno de investimento</a:t>
            </a:r>
          </a:p>
          <a:p>
            <a:pPr marL="342900" lvl="3" indent="-342900"/>
            <a:r>
              <a:rPr lang="pt-BR" sz="2400" dirty="0">
                <a:sym typeface="Wingdings" panose="05000000000000000000" pitchFamily="2" charset="2"/>
              </a:rPr>
              <a:t>Planejar a </a:t>
            </a:r>
            <a:r>
              <a:rPr lang="pt-BR" sz="2400" b="1" dirty="0">
                <a:sym typeface="Wingdings" panose="05000000000000000000" pitchFamily="2" charset="2"/>
              </a:rPr>
              <a:t>próxima versão </a:t>
            </a:r>
            <a:r>
              <a:rPr lang="pt-BR" sz="2400" dirty="0">
                <a:sym typeface="Wingdings" panose="05000000000000000000" pitchFamily="2" charset="2"/>
              </a:rPr>
              <a:t>do produto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4130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Experiência do usuário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User</a:t>
            </a:r>
            <a:r>
              <a:rPr lang="pt-BR" dirty="0"/>
              <a:t> </a:t>
            </a:r>
            <a:r>
              <a:rPr lang="pt-BR" dirty="0" err="1"/>
              <a:t>experience</a:t>
            </a:r>
            <a:r>
              <a:rPr lang="pt-BR" dirty="0"/>
              <a:t> (UX)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63386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Experiência do usuário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 a disseminação dos sistemas computacionais interativos em ambientes diferentes do trabalho, a </a:t>
            </a:r>
            <a:r>
              <a:rPr lang="pt-BR" b="1" dirty="0"/>
              <a:t>usabilidade</a:t>
            </a:r>
            <a:r>
              <a:rPr lang="pt-BR" dirty="0"/>
              <a:t> passou a englobar também as </a:t>
            </a:r>
            <a:r>
              <a:rPr lang="pt-BR" b="1" dirty="0"/>
              <a:t>emoções</a:t>
            </a:r>
            <a:r>
              <a:rPr lang="pt-BR" dirty="0"/>
              <a:t> e os </a:t>
            </a:r>
            <a:r>
              <a:rPr lang="pt-BR" b="1" dirty="0"/>
              <a:t>sentimentos</a:t>
            </a:r>
            <a:r>
              <a:rPr lang="pt-BR" dirty="0"/>
              <a:t> do usuário.</a:t>
            </a:r>
          </a:p>
          <a:p>
            <a:r>
              <a:rPr lang="pt-BR" dirty="0"/>
              <a:t>Além da satisfação do usuário tornou-se importante investigar outros aspectos da sua </a:t>
            </a:r>
            <a:r>
              <a:rPr lang="pt-BR" b="1" dirty="0"/>
              <a:t>subjetividade</a:t>
            </a:r>
            <a:r>
              <a:rPr lang="pt-BR" dirty="0"/>
              <a:t>, caracterizando seus sentimentos, estado de espírito, emoções e sensações decorrentes da interação com um sistema interativo em determinado contexto de uso. </a:t>
            </a:r>
          </a:p>
          <a:p>
            <a:r>
              <a:rPr lang="pt-BR" b="1" dirty="0"/>
              <a:t>Experiência do usuário </a:t>
            </a:r>
            <a:r>
              <a:rPr lang="pt-BR" dirty="0"/>
              <a:t>é a qualidade relacionada com os sentimentos e emoções dos usuários.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288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Experiência do usuário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Existem aspectos </a:t>
            </a:r>
            <a:r>
              <a:rPr lang="pt-BR" b="1" dirty="0"/>
              <a:t>positivos</a:t>
            </a:r>
            <a:r>
              <a:rPr lang="pt-BR" dirty="0"/>
              <a:t> e </a:t>
            </a:r>
            <a:r>
              <a:rPr lang="pt-BR" b="1" dirty="0"/>
              <a:t>negativos</a:t>
            </a:r>
            <a:r>
              <a:rPr lang="pt-BR" dirty="0"/>
              <a:t> dessa subjetividade</a:t>
            </a:r>
          </a:p>
          <a:p>
            <a:pPr lvl="1"/>
            <a:r>
              <a:rPr lang="pt-BR" dirty="0"/>
              <a:t>Satisfação, prazer, diversão, entretenimento, interesse, atração, motivação, estética, criatividade, provocação, surpresa, desafio, cansaço, frustração e ofensa.</a:t>
            </a:r>
          </a:p>
          <a:p>
            <a:r>
              <a:rPr lang="pt-BR" dirty="0"/>
              <a:t>Um bom </a:t>
            </a:r>
            <a:r>
              <a:rPr lang="pt-BR" b="1" dirty="0"/>
              <a:t>envolvimento emocional </a:t>
            </a:r>
            <a:r>
              <a:rPr lang="pt-BR" dirty="0"/>
              <a:t>dos usuários durante a interação </a:t>
            </a:r>
            <a:r>
              <a:rPr lang="pt-BR" b="1" dirty="0"/>
              <a:t>agrega valor </a:t>
            </a:r>
            <a:r>
              <a:rPr lang="pt-BR" dirty="0"/>
              <a:t>ao sistema interativo.</a:t>
            </a:r>
          </a:p>
          <a:p>
            <a:r>
              <a:rPr lang="pt-BR" dirty="0"/>
              <a:t>Cabe ao designer decidir </a:t>
            </a:r>
            <a:r>
              <a:rPr lang="pt-BR" b="1" dirty="0"/>
              <a:t>quais</a:t>
            </a:r>
            <a:r>
              <a:rPr lang="pt-BR" dirty="0"/>
              <a:t> aspectos subjetivos devem ser </a:t>
            </a:r>
            <a:r>
              <a:rPr lang="pt-BR" b="1" dirty="0"/>
              <a:t>promovidos</a:t>
            </a:r>
            <a:r>
              <a:rPr lang="pt-BR" dirty="0"/>
              <a:t> durante a interação e articular isso com os demais critérios de qualidade de uso.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72498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Experiência do usuário</a:t>
            </a:r>
          </a:p>
        </p:txBody>
      </p:sp>
      <p:graphicFrame>
        <p:nvGraphicFramePr>
          <p:cNvPr id="7" name="Espaço Reservado para Conteúdo 6"/>
          <p:cNvGraphicFramePr>
            <a:graphicFrameLocks noGrp="1"/>
          </p:cNvGraphicFramePr>
          <p:nvPr>
            <p:ph idx="1"/>
          </p:nvPr>
        </p:nvGraphicFramePr>
        <p:xfrm>
          <a:off x="1703512" y="2296512"/>
          <a:ext cx="9000999" cy="313944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3134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6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0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Aspectos desejáveis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Satisfatório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Prestativo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Divertido</a:t>
                      </a:r>
                      <a:r>
                        <a:rPr lang="pt-BR" sz="2000" baseline="0" dirty="0"/>
                        <a:t> (</a:t>
                      </a:r>
                      <a:r>
                        <a:rPr lang="pt-BR" sz="2000" i="1" baseline="0" dirty="0" err="1"/>
                        <a:t>fun</a:t>
                      </a:r>
                      <a:r>
                        <a:rPr lang="pt-BR" sz="2000" baseline="0" dirty="0"/>
                        <a:t>)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Agradável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Motivador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Instigante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Atraente</a:t>
                      </a:r>
                      <a:r>
                        <a:rPr lang="pt-BR" sz="2000" baseline="0" dirty="0"/>
                        <a:t> (</a:t>
                      </a:r>
                      <a:r>
                        <a:rPr lang="pt-BR" sz="2000" i="1" baseline="0" dirty="0" err="1"/>
                        <a:t>engaging</a:t>
                      </a:r>
                      <a:r>
                        <a:rPr lang="pt-BR" sz="2000" baseline="0" dirty="0"/>
                        <a:t>)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Desafiador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Surpreendente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Prazeroso (</a:t>
                      </a:r>
                      <a:r>
                        <a:rPr lang="pt-BR" sz="2000" i="1" dirty="0" err="1"/>
                        <a:t>pleasure</a:t>
                      </a:r>
                      <a:r>
                        <a:rPr lang="pt-BR" sz="2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Melhora</a:t>
                      </a:r>
                      <a:r>
                        <a:rPr lang="pt-BR" sz="2000" baseline="0" dirty="0"/>
                        <a:t> a sociabilidade</a:t>
                      </a:r>
                      <a:endParaRPr lang="pt-BR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Recompensador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Emocionante/excitante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Apoia a criatividade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Gratificante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Interessante (</a:t>
                      </a:r>
                      <a:r>
                        <a:rPr lang="pt-BR" sz="2000" i="1" dirty="0" err="1"/>
                        <a:t>entertaining</a:t>
                      </a:r>
                      <a:r>
                        <a:rPr lang="pt-BR" sz="20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Cognitivamente estimulante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70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Experiência do usuário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32</a:t>
            </a:fld>
            <a:endParaRPr lang="pt-BR"/>
          </a:p>
        </p:txBody>
      </p:sp>
      <p:graphicFrame>
        <p:nvGraphicFramePr>
          <p:cNvPr id="8" name="Espaço Reservado para Conteúdo 6"/>
          <p:cNvGraphicFramePr>
            <a:graphicFrameLocks/>
          </p:cNvGraphicFramePr>
          <p:nvPr/>
        </p:nvGraphicFramePr>
        <p:xfrm>
          <a:off x="1703512" y="2296512"/>
          <a:ext cx="8568952" cy="204216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447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2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Aspectos indesejáveis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Tedioso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 err="1"/>
                        <a:t>Desprazeroso</a:t>
                      </a:r>
                      <a:endParaRPr lang="pt-BR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Frustrante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Infantil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Provoca sentimento de culpa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Provoca sentimento de estupidez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000" dirty="0"/>
                        <a:t>Irritante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/>
                        <a:t>Artificial/Falso (</a:t>
                      </a:r>
                      <a:r>
                        <a:rPr lang="pt-BR" sz="2000" i="1" dirty="0" err="1"/>
                        <a:t>gimmicky</a:t>
                      </a:r>
                      <a:r>
                        <a:rPr lang="pt-BR" sz="2000" dirty="0"/>
                        <a:t>)</a:t>
                      </a:r>
                      <a:endParaRPr lang="pt-BR" sz="2000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23571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 x UX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Usabilidade</a:t>
            </a:r>
          </a:p>
          <a:p>
            <a:pPr lvl="1"/>
            <a:r>
              <a:rPr lang="pt-BR" dirty="0"/>
              <a:t>O quão fácil de usar é a solução digital?</a:t>
            </a:r>
          </a:p>
          <a:p>
            <a:r>
              <a:rPr lang="pt-BR" dirty="0"/>
              <a:t>UX</a:t>
            </a:r>
          </a:p>
          <a:p>
            <a:pPr lvl="1"/>
            <a:r>
              <a:rPr lang="pt-BR" dirty="0"/>
              <a:t>O quão útil foi a solução?</a:t>
            </a:r>
          </a:p>
          <a:p>
            <a:pPr lvl="1"/>
            <a:r>
              <a:rPr lang="pt-BR" dirty="0"/>
              <a:t>O quão divertido foi usar a solução?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63966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Usabilidade x UX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Fazer uma solução ser fácil de usar é um dos objetivos por trás do design da experiência do usuário, mas a UX também foca em garantir que a solução apresenta conteúdos, funcionalidades e características que são as mais úteis para o usuário.</a:t>
            </a:r>
          </a:p>
          <a:p>
            <a:r>
              <a:rPr lang="pt-BR" dirty="0"/>
              <a:t>UX também foca no quanto satisfatória e engajadora é a solução</a:t>
            </a:r>
          </a:p>
          <a:p>
            <a:pPr lvl="1"/>
            <a:r>
              <a:rPr lang="pt-BR" dirty="0"/>
              <a:t>Determinado por fatores além da simplicidade de uso</a:t>
            </a:r>
          </a:p>
          <a:p>
            <a:pPr lvl="2"/>
            <a:r>
              <a:rPr lang="pt-BR" dirty="0"/>
              <a:t>Apelo visual</a:t>
            </a:r>
          </a:p>
          <a:p>
            <a:pPr lvl="2"/>
            <a:r>
              <a:rPr lang="pt-BR" dirty="0"/>
              <a:t>Estilo e tom do conteúdo escrito</a:t>
            </a:r>
          </a:p>
          <a:p>
            <a:pPr lvl="2"/>
            <a:r>
              <a:rPr lang="pt-BR" dirty="0"/>
              <a:t>Forma de resposta do sistema</a:t>
            </a:r>
          </a:p>
          <a:p>
            <a:r>
              <a:rPr lang="pt-BR" dirty="0"/>
              <a:t>Experiência do usuário envolve todos os aspectos da interação dos usuários com a empresa, seus serviços e seus produtos.</a:t>
            </a:r>
          </a:p>
          <a:p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00DEA-4D7F-4A5D-AFE3-CCFE36347EB8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3681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  <p:pic>
        <p:nvPicPr>
          <p:cNvPr id="10" name="Picture 4" descr="http://www.grupoa.com.br/uploads/imagensTitulo/20130314102513_ROGERS_Design_Interacao_3ed_G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1658499"/>
            <a:ext cx="1764914" cy="2521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6"/>
          <p:cNvSpPr>
            <a:spLocks noGrp="1"/>
          </p:cNvSpPr>
          <p:nvPr>
            <p:ph sz="half" idx="2"/>
          </p:nvPr>
        </p:nvSpPr>
        <p:spPr>
          <a:xfrm>
            <a:off x="2856040" y="1658499"/>
            <a:ext cx="3600000" cy="2520000"/>
          </a:xfrm>
        </p:spPr>
        <p:txBody>
          <a:bodyPr>
            <a:normAutofit/>
          </a:bodyPr>
          <a:lstStyle/>
          <a:p>
            <a:r>
              <a:rPr lang="pt-BR" dirty="0"/>
              <a:t>Capítulo 2: Conceitos básicos</a:t>
            </a:r>
          </a:p>
          <a:p>
            <a:pPr lvl="1"/>
            <a:r>
              <a:rPr lang="pt-BR" dirty="0"/>
              <a:t>A partir da seção 2.2 – Qualidade em IHC</a:t>
            </a: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QXD0221, QXD0016 – Interação Humano-Computador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4FDF72-4C1E-41D0-B100-1D18DAE97CC9}" type="slidenum">
              <a:rPr lang="pt-BR" smtClean="0"/>
              <a:t>35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981000" y="4595644"/>
            <a:ext cx="11091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lvl="1"/>
            <a:endParaRPr lang="pt-BR" sz="2400" dirty="0"/>
          </a:p>
        </p:txBody>
      </p:sp>
      <p:pic>
        <p:nvPicPr>
          <p:cNvPr id="9" name="Picture 2" descr="http://www.elsevier.com.br/site/uploads/imagensTitulo/240620104955_InteracaoHumanoComputador_o_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00" y="1658499"/>
            <a:ext cx="1784999" cy="252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ço Reservado para Conteúdo 6"/>
          <p:cNvSpPr txBox="1">
            <a:spLocks/>
          </p:cNvSpPr>
          <p:nvPr/>
        </p:nvSpPr>
        <p:spPr>
          <a:xfrm>
            <a:off x="8544672" y="1658499"/>
            <a:ext cx="3600000" cy="252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lvl="1"/>
            <a:r>
              <a:rPr lang="pt-BR" sz="2800" dirty="0"/>
              <a:t>Capítulo 1: O que é design de interação?</a:t>
            </a:r>
          </a:p>
          <a:p>
            <a:pPr marL="514350" lvl="2"/>
            <a:r>
              <a:rPr lang="pt-BR" sz="2400" dirty="0"/>
              <a:t>Seção 1.4 – Experiência </a:t>
            </a:r>
            <a:r>
              <a:rPr lang="pt-BR" sz="2400"/>
              <a:t>do usuário</a:t>
            </a:r>
          </a:p>
          <a:p>
            <a:pPr marL="514350" lvl="2"/>
            <a:r>
              <a:rPr lang="pt-BR" sz="2400" dirty="0"/>
              <a:t>Seção 1.6 – Design de interação e a experiência de usuário</a:t>
            </a:r>
          </a:p>
        </p:txBody>
      </p:sp>
    </p:spTree>
    <p:extLst>
      <p:ext uri="{BB962C8B-B14F-4D97-AF65-F5344CB8AC3E}">
        <p14:creationId xmlns:p14="http://schemas.microsoft.com/office/powerpoint/2010/main" val="4231702699"/>
      </p:ext>
    </p:extLst>
  </p:cSld>
  <p:clrMapOvr>
    <a:masterClrMapping/>
  </p:clrMapOvr>
</p:sld>
</file>

<file path=ppt/theme/theme1.xml><?xml version="1.0" encoding="utf-8"?>
<a:theme xmlns:a="http://schemas.openxmlformats.org/drawingml/2006/main" name="UFC-Quixada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FC-Quixada" id="{F31D0578-B3B1-4B87-B478-3E5D291A18D1}" vid="{328F7558-738F-4A59-A9EE-BDCE7B7018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UFC-Quixada</Template>
  <TotalTime>3942</TotalTime>
  <Words>2193</Words>
  <Application>Microsoft Office PowerPoint</Application>
  <PresentationFormat>Widescreen</PresentationFormat>
  <Paragraphs>300</Paragraphs>
  <Slides>35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UFC-Quixada</vt:lpstr>
      <vt:lpstr> Usabilidade e experiência do usuário</vt:lpstr>
      <vt:lpstr>Qualidade em IHC</vt:lpstr>
      <vt:lpstr>Usabilidade</vt:lpstr>
      <vt:lpstr>Usabilidade</vt:lpstr>
      <vt:lpstr>Usabilidade em normas internacionais</vt:lpstr>
      <vt:lpstr>ABNT NBR ISO 9241-11</vt:lpstr>
      <vt:lpstr>Nielsen (1993)</vt:lpstr>
      <vt:lpstr>Facilidade de aprendizado</vt:lpstr>
      <vt:lpstr>Facilidade de recordação</vt:lpstr>
      <vt:lpstr>Eficiência</vt:lpstr>
      <vt:lpstr>Segurança no uso</vt:lpstr>
      <vt:lpstr>Satisfação do usuário</vt:lpstr>
      <vt:lpstr>Fatores de usabilidade</vt:lpstr>
      <vt:lpstr>Engenharia de usabilidade</vt:lpstr>
      <vt:lpstr>Apresentação do PowerPoint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Engenharia de Usabilidade de Nielsen</vt:lpstr>
      <vt:lpstr>Experiência do usuário</vt:lpstr>
      <vt:lpstr>Experiência do usuário</vt:lpstr>
      <vt:lpstr>Experiência do usuário</vt:lpstr>
      <vt:lpstr>Experiência do usuário</vt:lpstr>
      <vt:lpstr>Experiência do usuário</vt:lpstr>
      <vt:lpstr>Usabilidade x UX</vt:lpstr>
      <vt:lpstr>Usabilidade x UX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Ingrid</dc:creator>
  <cp:lastModifiedBy>Ingrid Monteiro</cp:lastModifiedBy>
  <cp:revision>77</cp:revision>
  <dcterms:created xsi:type="dcterms:W3CDTF">2015-02-23T12:55:48Z</dcterms:created>
  <dcterms:modified xsi:type="dcterms:W3CDTF">2023-10-26T13:18:41Z</dcterms:modified>
</cp:coreProperties>
</file>