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1" r:id="rId1"/>
  </p:sldMasterIdLst>
  <p:notesMasterIdLst>
    <p:notesMasterId r:id="rId53"/>
  </p:notesMasterIdLst>
  <p:sldIdLst>
    <p:sldId id="256" r:id="rId2"/>
    <p:sldId id="33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84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302" r:id="rId27"/>
    <p:sldId id="303" r:id="rId28"/>
    <p:sldId id="305" r:id="rId29"/>
    <p:sldId id="306" r:id="rId30"/>
    <p:sldId id="307" r:id="rId31"/>
    <p:sldId id="308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01" r:id="rId52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066"/>
    <a:srgbClr val="DDEAF7"/>
    <a:srgbClr val="F2F7FC"/>
    <a:srgbClr val="AA71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99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rid Monteiro" userId="4f1f53ea42604cf1" providerId="LiveId" clId="{18FA21F0-38DC-4C04-AD26-F49B04C8C519}"/>
    <pc:docChg chg="custSel modSld modMainMaster">
      <pc:chgData name="Ingrid Monteiro" userId="4f1f53ea42604cf1" providerId="LiveId" clId="{18FA21F0-38DC-4C04-AD26-F49B04C8C519}" dt="2019-10-02T17:20:29.317" v="21"/>
      <pc:docMkLst>
        <pc:docMk/>
      </pc:docMkLst>
      <pc:sldChg chg="modSp">
        <pc:chgData name="Ingrid Monteiro" userId="4f1f53ea42604cf1" providerId="LiveId" clId="{18FA21F0-38DC-4C04-AD26-F49B04C8C519}" dt="2019-10-02T00:55:26.075" v="18" actId="20577"/>
        <pc:sldMkLst>
          <pc:docMk/>
          <pc:sldMk cId="3716830568" sldId="256"/>
        </pc:sldMkLst>
        <pc:spChg chg="mod">
          <ac:chgData name="Ingrid Monteiro" userId="4f1f53ea42604cf1" providerId="LiveId" clId="{18FA21F0-38DC-4C04-AD26-F49B04C8C519}" dt="2019-10-02T00:53:32.561" v="1" actId="27636"/>
          <ac:spMkLst>
            <pc:docMk/>
            <pc:sldMk cId="3716830568" sldId="256"/>
            <ac:spMk id="2" creationId="{00000000-0000-0000-0000-000000000000}"/>
          </ac:spMkLst>
        </pc:spChg>
        <pc:spChg chg="mod">
          <ac:chgData name="Ingrid Monteiro" userId="4f1f53ea42604cf1" providerId="LiveId" clId="{18FA21F0-38DC-4C04-AD26-F49B04C8C519}" dt="2019-10-02T00:55:26.075" v="18" actId="20577"/>
          <ac:spMkLst>
            <pc:docMk/>
            <pc:sldMk cId="3716830568" sldId="256"/>
            <ac:spMk id="3" creationId="{00000000-0000-0000-0000-000000000000}"/>
          </ac:spMkLst>
        </pc:spChg>
      </pc:sldChg>
      <pc:sldChg chg="modSp">
        <pc:chgData name="Ingrid Monteiro" userId="4f1f53ea42604cf1" providerId="LiveId" clId="{18FA21F0-38DC-4C04-AD26-F49B04C8C519}" dt="2019-10-02T00:53:32.967" v="2" actId="27636"/>
        <pc:sldMkLst>
          <pc:docMk/>
          <pc:sldMk cId="3677993432" sldId="262"/>
        </pc:sldMkLst>
        <pc:spChg chg="mod">
          <ac:chgData name="Ingrid Monteiro" userId="4f1f53ea42604cf1" providerId="LiveId" clId="{18FA21F0-38DC-4C04-AD26-F49B04C8C519}" dt="2019-10-02T00:53:32.967" v="2" actId="27636"/>
          <ac:spMkLst>
            <pc:docMk/>
            <pc:sldMk cId="3677993432" sldId="262"/>
            <ac:spMk id="3" creationId="{00000000-0000-0000-0000-000000000000}"/>
          </ac:spMkLst>
        </pc:spChg>
      </pc:sldChg>
      <pc:sldChg chg="modSp">
        <pc:chgData name="Ingrid Monteiro" userId="4f1f53ea42604cf1" providerId="LiveId" clId="{18FA21F0-38DC-4C04-AD26-F49B04C8C519}" dt="2019-10-02T00:53:33.873" v="3" actId="27636"/>
        <pc:sldMkLst>
          <pc:docMk/>
          <pc:sldMk cId="4061882317" sldId="303"/>
        </pc:sldMkLst>
        <pc:spChg chg="mod">
          <ac:chgData name="Ingrid Monteiro" userId="4f1f53ea42604cf1" providerId="LiveId" clId="{18FA21F0-38DC-4C04-AD26-F49B04C8C519}" dt="2019-10-02T00:53:33.873" v="3" actId="27636"/>
          <ac:spMkLst>
            <pc:docMk/>
            <pc:sldMk cId="4061882317" sldId="303"/>
            <ac:spMk id="3" creationId="{00000000-0000-0000-0000-000000000000}"/>
          </ac:spMkLst>
        </pc:spChg>
      </pc:sldChg>
      <pc:sldMasterChg chg="modSldLayout">
        <pc:chgData name="Ingrid Monteiro" userId="4f1f53ea42604cf1" providerId="LiveId" clId="{18FA21F0-38DC-4C04-AD26-F49B04C8C519}" dt="2019-10-02T00:53:30.999" v="0"/>
        <pc:sldMasterMkLst>
          <pc:docMk/>
          <pc:sldMasterMk cId="3343156433" sldId="2147483735"/>
        </pc:sldMasterMkLst>
        <pc:sldLayoutChg chg="addSp">
          <pc:chgData name="Ingrid Monteiro" userId="4f1f53ea42604cf1" providerId="LiveId" clId="{18FA21F0-38DC-4C04-AD26-F49B04C8C519}" dt="2019-10-02T00:53:30.999" v="0"/>
          <pc:sldLayoutMkLst>
            <pc:docMk/>
            <pc:sldMasterMk cId="3343156433" sldId="2147483735"/>
            <pc:sldLayoutMk cId="3179559350" sldId="2147483739"/>
          </pc:sldLayoutMkLst>
          <pc:picChg chg="add">
            <ac:chgData name="Ingrid Monteiro" userId="4f1f53ea42604cf1" providerId="LiveId" clId="{18FA21F0-38DC-4C04-AD26-F49B04C8C519}" dt="2019-10-02T00:53:30.999" v="0"/>
            <ac:picMkLst>
              <pc:docMk/>
              <pc:sldMasterMk cId="3343156433" sldId="2147483735"/>
              <pc:sldLayoutMk cId="3179559350" sldId="2147483739"/>
              <ac:picMk id="8" creationId="{48FDB48F-DA46-4404-8FF4-2DB6074DA63B}"/>
            </ac:picMkLst>
          </pc:picChg>
        </pc:sldLayoutChg>
        <pc:sldLayoutChg chg="addSp">
          <pc:chgData name="Ingrid Monteiro" userId="4f1f53ea42604cf1" providerId="LiveId" clId="{18FA21F0-38DC-4C04-AD26-F49B04C8C519}" dt="2019-10-02T00:53:30.999" v="0"/>
          <pc:sldLayoutMkLst>
            <pc:docMk/>
            <pc:sldMasterMk cId="3343156433" sldId="2147483735"/>
            <pc:sldLayoutMk cId="376625530" sldId="2147483740"/>
          </pc:sldLayoutMkLst>
          <pc:picChg chg="add">
            <ac:chgData name="Ingrid Monteiro" userId="4f1f53ea42604cf1" providerId="LiveId" clId="{18FA21F0-38DC-4C04-AD26-F49B04C8C519}" dt="2019-10-02T00:53:30.999" v="0"/>
            <ac:picMkLst>
              <pc:docMk/>
              <pc:sldMasterMk cId="3343156433" sldId="2147483735"/>
              <pc:sldLayoutMk cId="376625530" sldId="2147483740"/>
              <ac:picMk id="10" creationId="{5FAAB92C-2088-43A6-BDD4-70E97420B2AE}"/>
            </ac:picMkLst>
          </pc:picChg>
        </pc:sldLayoutChg>
        <pc:sldLayoutChg chg="addSp">
          <pc:chgData name="Ingrid Monteiro" userId="4f1f53ea42604cf1" providerId="LiveId" clId="{18FA21F0-38DC-4C04-AD26-F49B04C8C519}" dt="2019-10-02T00:53:30.999" v="0"/>
          <pc:sldLayoutMkLst>
            <pc:docMk/>
            <pc:sldMasterMk cId="3343156433" sldId="2147483735"/>
            <pc:sldLayoutMk cId="3911726329" sldId="2147483743"/>
          </pc:sldLayoutMkLst>
          <pc:picChg chg="add">
            <ac:chgData name="Ingrid Monteiro" userId="4f1f53ea42604cf1" providerId="LiveId" clId="{18FA21F0-38DC-4C04-AD26-F49B04C8C519}" dt="2019-10-02T00:53:30.999" v="0"/>
            <ac:picMkLst>
              <pc:docMk/>
              <pc:sldMasterMk cId="3343156433" sldId="2147483735"/>
              <pc:sldLayoutMk cId="3911726329" sldId="2147483743"/>
              <ac:picMk id="8" creationId="{3164ACF7-2691-498F-B477-FD3962A64E35}"/>
            </ac:picMkLst>
          </pc:picChg>
        </pc:sldLayoutChg>
      </pc:sldMasterChg>
      <pc:sldMasterChg chg="modSldLayout">
        <pc:chgData name="Ingrid Monteiro" userId="4f1f53ea42604cf1" providerId="LiveId" clId="{18FA21F0-38DC-4C04-AD26-F49B04C8C519}" dt="2019-10-02T17:20:09.272" v="19"/>
        <pc:sldMasterMkLst>
          <pc:docMk/>
          <pc:sldMasterMk cId="3789460559" sldId="2147483747"/>
        </pc:sldMasterMkLst>
        <pc:sldLayoutChg chg="addSp">
          <pc:chgData name="Ingrid Monteiro" userId="4f1f53ea42604cf1" providerId="LiveId" clId="{18FA21F0-38DC-4C04-AD26-F49B04C8C519}" dt="2019-10-02T17:20:09.272" v="19"/>
          <pc:sldLayoutMkLst>
            <pc:docMk/>
            <pc:sldMasterMk cId="3789460559" sldId="2147483747"/>
            <pc:sldLayoutMk cId="879413547" sldId="2147483751"/>
          </pc:sldLayoutMkLst>
          <pc:picChg chg="add">
            <ac:chgData name="Ingrid Monteiro" userId="4f1f53ea42604cf1" providerId="LiveId" clId="{18FA21F0-38DC-4C04-AD26-F49B04C8C519}" dt="2019-10-02T17:20:09.272" v="19"/>
            <ac:picMkLst>
              <pc:docMk/>
              <pc:sldMasterMk cId="3789460559" sldId="2147483747"/>
              <pc:sldLayoutMk cId="879413547" sldId="2147483751"/>
              <ac:picMk id="8" creationId="{1DD532FA-E6F5-49D9-BA1E-8A2F562E365F}"/>
            </ac:picMkLst>
          </pc:picChg>
        </pc:sldLayoutChg>
        <pc:sldLayoutChg chg="addSp">
          <pc:chgData name="Ingrid Monteiro" userId="4f1f53ea42604cf1" providerId="LiveId" clId="{18FA21F0-38DC-4C04-AD26-F49B04C8C519}" dt="2019-10-02T17:20:09.272" v="19"/>
          <pc:sldLayoutMkLst>
            <pc:docMk/>
            <pc:sldMasterMk cId="3789460559" sldId="2147483747"/>
            <pc:sldLayoutMk cId="792651862" sldId="2147483752"/>
          </pc:sldLayoutMkLst>
          <pc:picChg chg="add">
            <ac:chgData name="Ingrid Monteiro" userId="4f1f53ea42604cf1" providerId="LiveId" clId="{18FA21F0-38DC-4C04-AD26-F49B04C8C519}" dt="2019-10-02T17:20:09.272" v="19"/>
            <ac:picMkLst>
              <pc:docMk/>
              <pc:sldMasterMk cId="3789460559" sldId="2147483747"/>
              <pc:sldLayoutMk cId="792651862" sldId="2147483752"/>
              <ac:picMk id="10" creationId="{EFB600C2-FFAF-48BA-97DC-C671D546541C}"/>
            </ac:picMkLst>
          </pc:picChg>
        </pc:sldLayoutChg>
        <pc:sldLayoutChg chg="addSp">
          <pc:chgData name="Ingrid Monteiro" userId="4f1f53ea42604cf1" providerId="LiveId" clId="{18FA21F0-38DC-4C04-AD26-F49B04C8C519}" dt="2019-10-02T17:20:09.272" v="19"/>
          <pc:sldLayoutMkLst>
            <pc:docMk/>
            <pc:sldMasterMk cId="3789460559" sldId="2147483747"/>
            <pc:sldLayoutMk cId="3562039625" sldId="2147483755"/>
          </pc:sldLayoutMkLst>
          <pc:picChg chg="add">
            <ac:chgData name="Ingrid Monteiro" userId="4f1f53ea42604cf1" providerId="LiveId" clId="{18FA21F0-38DC-4C04-AD26-F49B04C8C519}" dt="2019-10-02T17:20:09.272" v="19"/>
            <ac:picMkLst>
              <pc:docMk/>
              <pc:sldMasterMk cId="3789460559" sldId="2147483747"/>
              <pc:sldLayoutMk cId="3562039625" sldId="2147483755"/>
              <ac:picMk id="8" creationId="{BF35390D-6553-465B-A41B-F8A9063A04FD}"/>
            </ac:picMkLst>
          </pc:picChg>
        </pc:sldLayoutChg>
      </pc:sldMasterChg>
      <pc:sldMasterChg chg="modSldLayout">
        <pc:chgData name="Ingrid Monteiro" userId="4f1f53ea42604cf1" providerId="LiveId" clId="{18FA21F0-38DC-4C04-AD26-F49B04C8C519}" dt="2019-10-02T17:20:15.303" v="20"/>
        <pc:sldMasterMkLst>
          <pc:docMk/>
          <pc:sldMasterMk cId="2241887890" sldId="2147483759"/>
        </pc:sldMasterMkLst>
        <pc:sldLayoutChg chg="addSp">
          <pc:chgData name="Ingrid Monteiro" userId="4f1f53ea42604cf1" providerId="LiveId" clId="{18FA21F0-38DC-4C04-AD26-F49B04C8C519}" dt="2019-10-02T17:20:15.303" v="20"/>
          <pc:sldLayoutMkLst>
            <pc:docMk/>
            <pc:sldMasterMk cId="2241887890" sldId="2147483759"/>
            <pc:sldLayoutMk cId="1272737226" sldId="2147483763"/>
          </pc:sldLayoutMkLst>
          <pc:picChg chg="add">
            <ac:chgData name="Ingrid Monteiro" userId="4f1f53ea42604cf1" providerId="LiveId" clId="{18FA21F0-38DC-4C04-AD26-F49B04C8C519}" dt="2019-10-02T17:20:15.303" v="20"/>
            <ac:picMkLst>
              <pc:docMk/>
              <pc:sldMasterMk cId="2241887890" sldId="2147483759"/>
              <pc:sldLayoutMk cId="1272737226" sldId="2147483763"/>
              <ac:picMk id="8" creationId="{7D0BA841-9D14-435B-9F5A-64B1542AF499}"/>
            </ac:picMkLst>
          </pc:picChg>
        </pc:sldLayoutChg>
        <pc:sldLayoutChg chg="addSp">
          <pc:chgData name="Ingrid Monteiro" userId="4f1f53ea42604cf1" providerId="LiveId" clId="{18FA21F0-38DC-4C04-AD26-F49B04C8C519}" dt="2019-10-02T17:20:15.303" v="20"/>
          <pc:sldLayoutMkLst>
            <pc:docMk/>
            <pc:sldMasterMk cId="2241887890" sldId="2147483759"/>
            <pc:sldLayoutMk cId="2494320807" sldId="2147483764"/>
          </pc:sldLayoutMkLst>
          <pc:picChg chg="add">
            <ac:chgData name="Ingrid Monteiro" userId="4f1f53ea42604cf1" providerId="LiveId" clId="{18FA21F0-38DC-4C04-AD26-F49B04C8C519}" dt="2019-10-02T17:20:15.303" v="20"/>
            <ac:picMkLst>
              <pc:docMk/>
              <pc:sldMasterMk cId="2241887890" sldId="2147483759"/>
              <pc:sldLayoutMk cId="2494320807" sldId="2147483764"/>
              <ac:picMk id="10" creationId="{BFFC8D0F-FB93-4DE0-A7F3-59703B699A34}"/>
            </ac:picMkLst>
          </pc:picChg>
        </pc:sldLayoutChg>
        <pc:sldLayoutChg chg="addSp">
          <pc:chgData name="Ingrid Monteiro" userId="4f1f53ea42604cf1" providerId="LiveId" clId="{18FA21F0-38DC-4C04-AD26-F49B04C8C519}" dt="2019-10-02T17:20:15.303" v="20"/>
          <pc:sldLayoutMkLst>
            <pc:docMk/>
            <pc:sldMasterMk cId="2241887890" sldId="2147483759"/>
            <pc:sldLayoutMk cId="2489431116" sldId="2147483767"/>
          </pc:sldLayoutMkLst>
          <pc:picChg chg="add">
            <ac:chgData name="Ingrid Monteiro" userId="4f1f53ea42604cf1" providerId="LiveId" clId="{18FA21F0-38DC-4C04-AD26-F49B04C8C519}" dt="2019-10-02T17:20:15.303" v="20"/>
            <ac:picMkLst>
              <pc:docMk/>
              <pc:sldMasterMk cId="2241887890" sldId="2147483759"/>
              <pc:sldLayoutMk cId="2489431116" sldId="2147483767"/>
              <ac:picMk id="8" creationId="{2F8C6506-3C93-43C5-97A3-E5B0182D9A86}"/>
            </ac:picMkLst>
          </pc:picChg>
        </pc:sldLayoutChg>
      </pc:sldMasterChg>
      <pc:sldMasterChg chg="modSldLayout">
        <pc:chgData name="Ingrid Monteiro" userId="4f1f53ea42604cf1" providerId="LiveId" clId="{18FA21F0-38DC-4C04-AD26-F49B04C8C519}" dt="2019-10-02T17:20:29.317" v="21"/>
        <pc:sldMasterMkLst>
          <pc:docMk/>
          <pc:sldMasterMk cId="693382" sldId="2147483771"/>
        </pc:sldMasterMkLst>
        <pc:sldLayoutChg chg="addSp">
          <pc:chgData name="Ingrid Monteiro" userId="4f1f53ea42604cf1" providerId="LiveId" clId="{18FA21F0-38DC-4C04-AD26-F49B04C8C519}" dt="2019-10-02T17:20:29.317" v="21"/>
          <pc:sldLayoutMkLst>
            <pc:docMk/>
            <pc:sldMasterMk cId="693382" sldId="2147483771"/>
            <pc:sldLayoutMk cId="56286393" sldId="2147483775"/>
          </pc:sldLayoutMkLst>
          <pc:picChg chg="add">
            <ac:chgData name="Ingrid Monteiro" userId="4f1f53ea42604cf1" providerId="LiveId" clId="{18FA21F0-38DC-4C04-AD26-F49B04C8C519}" dt="2019-10-02T17:20:29.317" v="21"/>
            <ac:picMkLst>
              <pc:docMk/>
              <pc:sldMasterMk cId="693382" sldId="2147483771"/>
              <pc:sldLayoutMk cId="56286393" sldId="2147483775"/>
              <ac:picMk id="8" creationId="{84A4D51A-255F-41E7-8448-CB2615F15F02}"/>
            </ac:picMkLst>
          </pc:picChg>
        </pc:sldLayoutChg>
        <pc:sldLayoutChg chg="addSp">
          <pc:chgData name="Ingrid Monteiro" userId="4f1f53ea42604cf1" providerId="LiveId" clId="{18FA21F0-38DC-4C04-AD26-F49B04C8C519}" dt="2019-10-02T17:20:29.317" v="21"/>
          <pc:sldLayoutMkLst>
            <pc:docMk/>
            <pc:sldMasterMk cId="693382" sldId="2147483771"/>
            <pc:sldLayoutMk cId="3439790821" sldId="2147483776"/>
          </pc:sldLayoutMkLst>
          <pc:picChg chg="add">
            <ac:chgData name="Ingrid Monteiro" userId="4f1f53ea42604cf1" providerId="LiveId" clId="{18FA21F0-38DC-4C04-AD26-F49B04C8C519}" dt="2019-10-02T17:20:29.317" v="21"/>
            <ac:picMkLst>
              <pc:docMk/>
              <pc:sldMasterMk cId="693382" sldId="2147483771"/>
              <pc:sldLayoutMk cId="3439790821" sldId="2147483776"/>
              <ac:picMk id="10" creationId="{3A3F9FA4-E017-456F-8AC7-968E2AE69770}"/>
            </ac:picMkLst>
          </pc:picChg>
        </pc:sldLayoutChg>
        <pc:sldLayoutChg chg="addSp">
          <pc:chgData name="Ingrid Monteiro" userId="4f1f53ea42604cf1" providerId="LiveId" clId="{18FA21F0-38DC-4C04-AD26-F49B04C8C519}" dt="2019-10-02T17:20:29.317" v="21"/>
          <pc:sldLayoutMkLst>
            <pc:docMk/>
            <pc:sldMasterMk cId="693382" sldId="2147483771"/>
            <pc:sldLayoutMk cId="3610772866" sldId="2147483779"/>
          </pc:sldLayoutMkLst>
          <pc:picChg chg="add">
            <ac:chgData name="Ingrid Monteiro" userId="4f1f53ea42604cf1" providerId="LiveId" clId="{18FA21F0-38DC-4C04-AD26-F49B04C8C519}" dt="2019-10-02T17:20:29.317" v="21"/>
            <ac:picMkLst>
              <pc:docMk/>
              <pc:sldMasterMk cId="693382" sldId="2147483771"/>
              <pc:sldLayoutMk cId="3610772866" sldId="2147483779"/>
              <ac:picMk id="8" creationId="{059303AF-86FE-44F6-84DC-D94B0D41B5E4}"/>
            </ac:picMkLst>
          </pc:picChg>
        </pc:sldLayoutChg>
      </pc:sldMasterChg>
    </pc:docChg>
  </pc:docChgLst>
  <pc:docChgLst>
    <pc:chgData name="Ingrid Monteiro" userId="4f1f53ea42604cf1" providerId="LiveId" clId="{C9BD029D-762B-415F-BFB3-D3A0A76ED949}"/>
    <pc:docChg chg="modSld">
      <pc:chgData name="Ingrid Monteiro" userId="4f1f53ea42604cf1" providerId="LiveId" clId="{C9BD029D-762B-415F-BFB3-D3A0A76ED949}" dt="2019-04-03T23:00:48.961" v="3" actId="20577"/>
      <pc:docMkLst>
        <pc:docMk/>
      </pc:docMkLst>
      <pc:sldChg chg="modSp">
        <pc:chgData name="Ingrid Monteiro" userId="4f1f53ea42604cf1" providerId="LiveId" clId="{C9BD029D-762B-415F-BFB3-D3A0A76ED949}" dt="2019-04-03T23:00:48.961" v="3" actId="20577"/>
        <pc:sldMkLst>
          <pc:docMk/>
          <pc:sldMk cId="3716830568" sldId="256"/>
        </pc:sldMkLst>
        <pc:spChg chg="mod">
          <ac:chgData name="Ingrid Monteiro" userId="4f1f53ea42604cf1" providerId="LiveId" clId="{C9BD029D-762B-415F-BFB3-D3A0A76ED949}" dt="2019-04-03T23:00:43.210" v="0" actId="6549"/>
          <ac:spMkLst>
            <pc:docMk/>
            <pc:sldMk cId="3716830568" sldId="256"/>
            <ac:spMk id="2" creationId="{00000000-0000-0000-0000-000000000000}"/>
          </ac:spMkLst>
        </pc:spChg>
        <pc:spChg chg="mod">
          <ac:chgData name="Ingrid Monteiro" userId="4f1f53ea42604cf1" providerId="LiveId" clId="{C9BD029D-762B-415F-BFB3-D3A0A76ED949}" dt="2019-04-03T23:00:48.961" v="3" actId="20577"/>
          <ac:spMkLst>
            <pc:docMk/>
            <pc:sldMk cId="3716830568" sldId="256"/>
            <ac:spMk id="3" creationId="{00000000-0000-0000-0000-000000000000}"/>
          </ac:spMkLst>
        </pc:spChg>
      </pc:sldChg>
    </pc:docChg>
  </pc:docChgLst>
  <pc:docChgLst>
    <pc:chgData name="Ingrid Monteiro" userId="4f1f53ea42604cf1" providerId="LiveId" clId="{4B3FA381-6ECA-40A9-AF8A-B6CEA9ED18D0}"/>
    <pc:docChg chg="modSld">
      <pc:chgData name="Ingrid Monteiro" userId="4f1f53ea42604cf1" providerId="LiveId" clId="{4B3FA381-6ECA-40A9-AF8A-B6CEA9ED18D0}" dt="2023-11-20T22:12:31.562" v="1" actId="13926"/>
      <pc:docMkLst>
        <pc:docMk/>
      </pc:docMkLst>
      <pc:sldChg chg="modSp mod">
        <pc:chgData name="Ingrid Monteiro" userId="4f1f53ea42604cf1" providerId="LiveId" clId="{4B3FA381-6ECA-40A9-AF8A-B6CEA9ED18D0}" dt="2023-11-20T22:12:31.562" v="1" actId="13926"/>
        <pc:sldMkLst>
          <pc:docMk/>
          <pc:sldMk cId="2531641617" sldId="266"/>
        </pc:sldMkLst>
        <pc:spChg chg="mod">
          <ac:chgData name="Ingrid Monteiro" userId="4f1f53ea42604cf1" providerId="LiveId" clId="{4B3FA381-6ECA-40A9-AF8A-B6CEA9ED18D0}" dt="2023-11-20T22:12:31.562" v="1" actId="13926"/>
          <ac:spMkLst>
            <pc:docMk/>
            <pc:sldMk cId="2531641617" sldId="26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C300E-04F4-4BB6-A82F-A0F7FE928FA2}" type="datetimeFigureOut">
              <a:rPr lang="pt-BR" smtClean="0"/>
              <a:t>20/11/2023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E832F-BB7F-4CD1-BB71-FEAB81F434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61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7E832F-BB7F-4CD1-BB71-FEAB81F434F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34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CA3C-BEBB-486D-960B-A89C6188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D39B7-960C-4351-8F8F-97F5F3B0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2056-BDE6-4AA7-A123-A1199686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360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5870D-AFE0-4E3F-BBE4-6F35B796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9C3A8-9A39-4B7B-BCF8-7B59B812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AA676-A77D-4601-AB2B-39B2A718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01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10279-8813-4FB6-9C01-BC4F4D84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FC89F-1325-4935-A8C2-757B2F6E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3F6FF-F72F-4A34-B851-D737528D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16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57" y="1825625"/>
            <a:ext cx="5696243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96243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30C080D-C7AB-409D-BDDE-1BA66D4D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F620C3-17AF-4066-B391-F667A9D9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F38AAF-F9E2-4273-92DE-9A4B9DE8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 Vertical-01.png">
            <a:extLst>
              <a:ext uri="{FF2B5EF4-FFF2-40B4-BE49-F238E27FC236}">
                <a16:creationId xmlns:a16="http://schemas.microsoft.com/office/drawing/2014/main" id="{84A4D51A-255F-41E7-8448-CB2615F15F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37" t="11205" r="14494" b="11920"/>
          <a:stretch/>
        </p:blipFill>
        <p:spPr>
          <a:xfrm>
            <a:off x="10704512" y="116632"/>
            <a:ext cx="1508843" cy="1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57" y="579437"/>
            <a:ext cx="10515600" cy="93503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56" y="1681163"/>
            <a:ext cx="5760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556" y="2505075"/>
            <a:ext cx="576000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681163"/>
            <a:ext cx="5760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8" y="2505075"/>
            <a:ext cx="576000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54DCDC4-FEE0-4C3E-A3A9-3ED07CD9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2AA627-0187-4C75-AA14-F36FD10D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65A854-D57F-4704-97A6-7552D1C9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 descr="Logo Vertical-01.png">
            <a:extLst>
              <a:ext uri="{FF2B5EF4-FFF2-40B4-BE49-F238E27FC236}">
                <a16:creationId xmlns:a16="http://schemas.microsoft.com/office/drawing/2014/main" id="{3A3F9FA4-E017-456F-8AC7-968E2AE697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37" t="11205" r="14494" b="11920"/>
          <a:stretch/>
        </p:blipFill>
        <p:spPr>
          <a:xfrm>
            <a:off x="10704512" y="116632"/>
            <a:ext cx="1508843" cy="1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90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831757A-CB13-47A7-A08D-1F1BDC64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6A7F01C-3D72-4792-ABB1-2B6F5164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354516-742B-4411-9552-3FDA52C6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3167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34E3666-3C0B-4E46-A2E8-ED52BABA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F4BDA6D-BC34-4305-AE26-D4AD31A2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C420C5-2F3B-4F54-A99D-D522138B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09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58" y="577516"/>
            <a:ext cx="4448468" cy="147988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4" y="577517"/>
            <a:ext cx="6959558" cy="52835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558" y="2057400"/>
            <a:ext cx="4448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B20430-F28F-47E3-B6B6-AA423253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EFB09E-CAE8-4F63-9BAE-93D20BD7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F35FDE-61F3-4089-81EF-360FAB0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 Vertical-01.png">
            <a:extLst>
              <a:ext uri="{FF2B5EF4-FFF2-40B4-BE49-F238E27FC236}">
                <a16:creationId xmlns:a16="http://schemas.microsoft.com/office/drawing/2014/main" id="{059303AF-86FE-44F6-84DC-D94B0D41B5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37" t="11205" r="14494" b="11920"/>
          <a:stretch/>
        </p:blipFill>
        <p:spPr>
          <a:xfrm>
            <a:off x="10704512" y="116632"/>
            <a:ext cx="1508843" cy="1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72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ECB7FB-98BD-4B4A-84FF-47E1A7C9D5A7}"/>
              </a:ext>
            </a:extLst>
          </p:cNvPr>
          <p:cNvSpPr txBox="1">
            <a:spLocks/>
          </p:cNvSpPr>
          <p:nvPr/>
        </p:nvSpPr>
        <p:spPr>
          <a:xfrm>
            <a:off x="323850" y="577850"/>
            <a:ext cx="4448175" cy="14795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40968" y="987425"/>
            <a:ext cx="6927474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AABF984-BD12-4A1E-BE7D-02AC9CE9FBF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23558" y="2057400"/>
            <a:ext cx="4448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C04E7-20E6-4648-83BB-A6ED4352D8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92A73-4C95-49CF-9188-CF6C08EAD8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F93A4-30BB-4B46-BDB8-22185A619C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797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19C20-317E-4A94-9B89-2780722B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BD835-CC18-4BF6-9159-C020DCF1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8B865-254A-4F93-9D5D-F25FCBD7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8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529389"/>
            <a:ext cx="3143543" cy="564757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557" y="529389"/>
            <a:ext cx="8248943" cy="564757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91986-A0B6-4B85-8B94-36698A395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810A-D584-40C5-9A71-9D611131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4568-3BDD-4304-8FEE-91786526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8290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057E057-6DD5-435A-9328-02D86E0DA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592138"/>
            <a:ext cx="1153477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DF07BB5-4F57-4E17-B0E5-8CCE7E26B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825625"/>
            <a:ext cx="1153477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7F19E-AA12-4220-9C77-3B410A9E0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38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E4F2-A56F-4B7E-8B77-448ADFE5E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2463" y="6356350"/>
            <a:ext cx="7218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43A64-EC09-41CB-8F13-3953F110D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4950" y="476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vis.berkeley.edu/courses/cs160-sp09/wiki/images/4/48/GulfClarification.pdf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pt-BR" dirty="0"/>
            </a:br>
            <a:r>
              <a:rPr lang="pt-BR" sz="4400" dirty="0"/>
              <a:t>Engenharia cognitiva e percurso cognitivo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Ingrid Teixeira Monteiro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000" b="1" dirty="0">
                <a:solidFill>
                  <a:srgbClr val="010066"/>
                </a:solidFill>
              </a:rPr>
              <a:t>QPC0016, QXD0221 – Interação Humano-Computador</a:t>
            </a:r>
          </a:p>
        </p:txBody>
      </p:sp>
    </p:spTree>
    <p:extLst>
      <p:ext uri="{BB962C8B-B14F-4D97-AF65-F5344CB8AC3E}">
        <p14:creationId xmlns:p14="http://schemas.microsoft.com/office/powerpoint/2010/main" val="371683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B6F3431-59E4-42E2-94BB-13ED2D676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cognitiva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024FA43-FA86-4230-84BB-38540A110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55B580-75B2-4350-843A-61313204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35E3CB-F10C-4595-AF43-1EB5D1EF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72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Cognitiva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Concebida por </a:t>
            </a:r>
            <a:r>
              <a:rPr lang="pt-BR" b="1" dirty="0"/>
              <a:t>Donald Norman </a:t>
            </a:r>
            <a:r>
              <a:rPr lang="pt-BR" dirty="0"/>
              <a:t>em </a:t>
            </a:r>
            <a:r>
              <a:rPr lang="pt-BR" b="1" dirty="0"/>
              <a:t>1986</a:t>
            </a:r>
          </a:p>
          <a:p>
            <a:r>
              <a:rPr lang="pt-BR" dirty="0"/>
              <a:t>Tentativa de aplicar conhecimentos de </a:t>
            </a:r>
            <a:r>
              <a:rPr lang="pt-BR" b="1" dirty="0"/>
              <a:t>ciência cognitiva</a:t>
            </a:r>
            <a:r>
              <a:rPr lang="pt-BR" dirty="0"/>
              <a:t>, </a:t>
            </a:r>
            <a:r>
              <a:rPr lang="pt-BR" b="1" dirty="0"/>
              <a:t>psicologia cognitiva </a:t>
            </a:r>
            <a:r>
              <a:rPr lang="pt-BR" dirty="0"/>
              <a:t>e </a:t>
            </a:r>
            <a:r>
              <a:rPr lang="pt-BR" b="1" dirty="0"/>
              <a:t>fatores humanos </a:t>
            </a:r>
            <a:r>
              <a:rPr lang="pt-BR" dirty="0"/>
              <a:t>ao design e construção de sistemas computacionais</a:t>
            </a:r>
          </a:p>
          <a:p>
            <a:r>
              <a:rPr lang="pt-BR" dirty="0"/>
              <a:t>Principais objetivos de Norman</a:t>
            </a:r>
          </a:p>
          <a:p>
            <a:pPr lvl="1"/>
            <a:r>
              <a:rPr lang="pt-BR" b="1" dirty="0"/>
              <a:t>Entender</a:t>
            </a:r>
            <a:r>
              <a:rPr lang="pt-BR" dirty="0"/>
              <a:t> os princípios fundamentais da </a:t>
            </a:r>
            <a:r>
              <a:rPr lang="pt-BR" b="1" dirty="0"/>
              <a:t>ação</a:t>
            </a:r>
            <a:r>
              <a:rPr lang="pt-BR" dirty="0"/>
              <a:t> e </a:t>
            </a:r>
            <a:r>
              <a:rPr lang="pt-BR" b="1" dirty="0"/>
              <a:t>desempenho</a:t>
            </a:r>
            <a:r>
              <a:rPr lang="pt-BR" dirty="0"/>
              <a:t> humano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 relevantes para o desenvolvimento de </a:t>
            </a:r>
            <a:r>
              <a:rPr lang="pt-BR" b="1" dirty="0">
                <a:sym typeface="Wingdings" panose="05000000000000000000" pitchFamily="2" charset="2"/>
              </a:rPr>
              <a:t>princípios de design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Elaborar </a:t>
            </a:r>
            <a:r>
              <a:rPr lang="pt-BR" b="1" dirty="0">
                <a:sym typeface="Wingdings" panose="05000000000000000000" pitchFamily="2" charset="2"/>
              </a:rPr>
              <a:t>sistemas</a:t>
            </a:r>
            <a:r>
              <a:rPr lang="pt-BR" dirty="0">
                <a:sym typeface="Wingdings" panose="05000000000000000000" pitchFamily="2" charset="2"/>
              </a:rPr>
              <a:t> que sejam </a:t>
            </a:r>
            <a:r>
              <a:rPr lang="pt-BR" b="1" dirty="0">
                <a:sym typeface="Wingdings" panose="05000000000000000000" pitchFamily="2" charset="2"/>
              </a:rPr>
              <a:t>agradáveis</a:t>
            </a:r>
            <a:r>
              <a:rPr lang="pt-BR" dirty="0">
                <a:sym typeface="Wingdings" panose="05000000000000000000" pitchFamily="2" charset="2"/>
              </a:rPr>
              <a:t> de usar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ym typeface="Wingdings" panose="05000000000000000000" pitchFamily="2" charset="2"/>
              </a:rPr>
              <a:t>engajam</a:t>
            </a:r>
            <a:r>
              <a:rPr lang="pt-BR" dirty="0">
                <a:sym typeface="Wingdings" panose="05000000000000000000" pitchFamily="2" charset="2"/>
              </a:rPr>
              <a:t> os usuários de forma prazerosa.</a:t>
            </a:r>
          </a:p>
          <a:p>
            <a:r>
              <a:rPr lang="pt-BR" dirty="0">
                <a:sym typeface="Wingdings" panose="05000000000000000000" pitchFamily="2" charset="2"/>
              </a:rPr>
              <a:t>É uma abordagem centrada no usuário</a:t>
            </a:r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679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Cognitiva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</a:t>
            </a:r>
            <a:r>
              <a:rPr lang="pt-BR" b="1" dirty="0"/>
              <a:t>base</a:t>
            </a:r>
            <a:r>
              <a:rPr lang="pt-BR" dirty="0"/>
              <a:t> da engenharia cognitiva está a </a:t>
            </a:r>
            <a:r>
              <a:rPr lang="pt-BR" b="1" dirty="0"/>
              <a:t>discrepância</a:t>
            </a:r>
            <a:r>
              <a:rPr lang="pt-BR" dirty="0"/>
              <a:t> entre os objetivos expressos </a:t>
            </a:r>
            <a:r>
              <a:rPr lang="pt-BR" b="1" dirty="0"/>
              <a:t>psicologicamente</a:t>
            </a:r>
            <a:r>
              <a:rPr lang="pt-BR" dirty="0"/>
              <a:t> e os controles e variáveis </a:t>
            </a:r>
            <a:r>
              <a:rPr lang="pt-BR" b="1" dirty="0"/>
              <a:t>físicos</a:t>
            </a:r>
            <a:r>
              <a:rPr lang="pt-BR" dirty="0"/>
              <a:t> de uma </a:t>
            </a:r>
            <a:r>
              <a:rPr lang="pt-BR" b="1" dirty="0"/>
              <a:t>tarefa</a:t>
            </a:r>
          </a:p>
          <a:p>
            <a:r>
              <a:rPr lang="pt-BR" dirty="0"/>
              <a:t>Início </a:t>
            </a:r>
            <a:r>
              <a:rPr lang="pt-BR" dirty="0">
                <a:sym typeface="Wingdings" panose="05000000000000000000" pitchFamily="2" charset="2"/>
              </a:rPr>
              <a:t> objetivos e intenções  </a:t>
            </a:r>
            <a:r>
              <a:rPr lang="pt-BR" b="1" dirty="0">
                <a:sym typeface="Wingdings" panose="05000000000000000000" pitchFamily="2" charset="2"/>
              </a:rPr>
              <a:t>variáveis psicológicas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Diz respeito às necessidades e situação do usuário</a:t>
            </a:r>
          </a:p>
          <a:p>
            <a:r>
              <a:rPr lang="pt-BR" dirty="0">
                <a:sym typeface="Wingdings" panose="05000000000000000000" pitchFamily="2" charset="2"/>
              </a:rPr>
              <a:t>Tarefa  realizada em um sistema físico  mudanças nas </a:t>
            </a:r>
            <a:r>
              <a:rPr lang="pt-BR" b="1" dirty="0">
                <a:sym typeface="Wingdings" panose="05000000000000000000" pitchFamily="2" charset="2"/>
              </a:rPr>
              <a:t>variáveis físicas </a:t>
            </a:r>
            <a:r>
              <a:rPr lang="pt-BR" dirty="0">
                <a:sym typeface="Wingdings" panose="05000000000000000000" pitchFamily="2" charset="2"/>
              </a:rPr>
              <a:t>e no </a:t>
            </a:r>
            <a:r>
              <a:rPr lang="pt-BR" b="1" dirty="0">
                <a:sym typeface="Wingdings" panose="05000000000000000000" pitchFamily="2" charset="2"/>
              </a:rPr>
              <a:t>estado do sistema</a:t>
            </a:r>
            <a:r>
              <a:rPr lang="pt-BR" dirty="0">
                <a:sym typeface="Wingdings" panose="05000000000000000000" pitchFamily="2" charset="2"/>
              </a:rPr>
              <a:t>.</a:t>
            </a:r>
            <a:endParaRPr lang="pt-BR" dirty="0"/>
          </a:p>
          <a:p>
            <a:endParaRPr lang="pt-BR" b="1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56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Cognitiva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Mundo psicológico </a:t>
            </a:r>
            <a:r>
              <a:rPr lang="pt-BR" dirty="0">
                <a:latin typeface="Comic Sans MS" pitchFamily="66" charset="0"/>
              </a:rPr>
              <a:t>X</a:t>
            </a:r>
            <a:r>
              <a:rPr lang="pt-BR" dirty="0"/>
              <a:t> Mundo físico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Usuário precisa...</a:t>
            </a:r>
          </a:p>
          <a:p>
            <a:pPr lvl="1"/>
            <a:r>
              <a:rPr lang="pt-BR" b="1" dirty="0"/>
              <a:t>interpretar</a:t>
            </a:r>
            <a:r>
              <a:rPr lang="pt-BR" dirty="0"/>
              <a:t> as </a:t>
            </a:r>
            <a:r>
              <a:rPr lang="pt-BR" b="1" dirty="0"/>
              <a:t>variáveis físicas </a:t>
            </a:r>
            <a:r>
              <a:rPr lang="pt-BR" dirty="0"/>
              <a:t>em termos relevantes aos </a:t>
            </a:r>
            <a:r>
              <a:rPr lang="pt-BR" b="1" dirty="0"/>
              <a:t>objetivos psicológicos</a:t>
            </a:r>
          </a:p>
          <a:p>
            <a:pPr lvl="1"/>
            <a:r>
              <a:rPr lang="pt-BR" b="1" dirty="0"/>
              <a:t>traduzir</a:t>
            </a:r>
            <a:r>
              <a:rPr lang="pt-BR" dirty="0"/>
              <a:t> as suas </a:t>
            </a:r>
            <a:r>
              <a:rPr lang="pt-BR" b="1" dirty="0"/>
              <a:t>intenções psicológicas </a:t>
            </a:r>
            <a:r>
              <a:rPr lang="pt-BR" dirty="0"/>
              <a:t>em </a:t>
            </a:r>
            <a:r>
              <a:rPr lang="pt-BR" b="1" dirty="0"/>
              <a:t>ações físicas </a:t>
            </a:r>
            <a:r>
              <a:rPr lang="pt-BR" dirty="0"/>
              <a:t>sobre os controles e mecanismos do sistema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b="1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5</a:t>
            </a:fld>
            <a:endParaRPr lang="pt-BR"/>
          </a:p>
        </p:txBody>
      </p:sp>
      <p:pic>
        <p:nvPicPr>
          <p:cNvPr id="7" name="Picture 2" descr="D:\Meus Documentos\Docs\FTP\Livro de IHC\material para o site\figuras\Figura 3.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2204864"/>
            <a:ext cx="5760720" cy="2211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99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conceituais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engenharia cognitiva considera três modelos:</a:t>
            </a:r>
          </a:p>
          <a:p>
            <a:pPr lvl="1"/>
            <a:r>
              <a:rPr lang="pt-BR" dirty="0"/>
              <a:t>Modelo de design (mental)</a:t>
            </a:r>
          </a:p>
          <a:p>
            <a:pPr lvl="1"/>
            <a:r>
              <a:rPr lang="pt-BR" dirty="0"/>
              <a:t>Imagem do sistema (físico)</a:t>
            </a:r>
          </a:p>
          <a:p>
            <a:pPr lvl="1"/>
            <a:r>
              <a:rPr lang="pt-BR" dirty="0"/>
              <a:t>Modelo do usuário (mental)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6</a:t>
            </a:fld>
            <a:endParaRPr lang="pt-BR"/>
          </a:p>
        </p:txBody>
      </p:sp>
      <p:pic>
        <p:nvPicPr>
          <p:cNvPr id="7" name="Picture 2" descr="D:\Meus Documentos\Docs\FTP\Livro de IHC\material para o site\figuras\Figura 3.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3501008"/>
            <a:ext cx="8130540" cy="248412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22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conceituais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 de design</a:t>
            </a:r>
          </a:p>
          <a:p>
            <a:pPr lvl="1"/>
            <a:r>
              <a:rPr lang="pt-BR" dirty="0"/>
              <a:t>Modelo </a:t>
            </a:r>
            <a:r>
              <a:rPr lang="pt-BR" b="1" dirty="0"/>
              <a:t>conceitual</a:t>
            </a:r>
            <a:r>
              <a:rPr lang="pt-BR" dirty="0"/>
              <a:t> do sistema tal como </a:t>
            </a:r>
            <a:r>
              <a:rPr lang="pt-BR" b="1" dirty="0"/>
              <a:t>concebido</a:t>
            </a:r>
            <a:r>
              <a:rPr lang="pt-BR" dirty="0"/>
              <a:t> pelo </a:t>
            </a:r>
            <a:r>
              <a:rPr lang="pt-BR" b="1" dirty="0"/>
              <a:t>designer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Descreve a </a:t>
            </a:r>
            <a:r>
              <a:rPr lang="pt-BR" b="1" dirty="0"/>
              <a:t>lógica</a:t>
            </a:r>
            <a:r>
              <a:rPr lang="pt-BR" dirty="0"/>
              <a:t> de funcionamento do sistema</a:t>
            </a:r>
          </a:p>
          <a:p>
            <a:pPr lvl="1"/>
            <a:r>
              <a:rPr lang="pt-BR" dirty="0"/>
              <a:t>Deve se basear em </a:t>
            </a:r>
            <a:r>
              <a:rPr lang="pt-BR" b="1" dirty="0"/>
              <a:t>tarefas</a:t>
            </a:r>
            <a:r>
              <a:rPr lang="pt-BR" dirty="0"/>
              <a:t>, </a:t>
            </a:r>
            <a:r>
              <a:rPr lang="pt-BR" b="1" dirty="0"/>
              <a:t>requisitos</a:t>
            </a:r>
            <a:r>
              <a:rPr lang="pt-BR" dirty="0"/>
              <a:t>, </a:t>
            </a:r>
            <a:r>
              <a:rPr lang="pt-BR" b="1" dirty="0"/>
              <a:t>capacidades</a:t>
            </a:r>
            <a:r>
              <a:rPr lang="pt-BR" dirty="0"/>
              <a:t> e </a:t>
            </a:r>
            <a:r>
              <a:rPr lang="pt-BR" b="1" dirty="0"/>
              <a:t>experiência</a:t>
            </a:r>
            <a:r>
              <a:rPr lang="pt-BR" dirty="0"/>
              <a:t> do usuário</a:t>
            </a:r>
          </a:p>
          <a:p>
            <a:pPr lvl="1"/>
            <a:r>
              <a:rPr lang="pt-BR" dirty="0"/>
              <a:t>Deve considerar as </a:t>
            </a:r>
            <a:r>
              <a:rPr lang="pt-BR" b="1" dirty="0"/>
              <a:t>capacidades</a:t>
            </a:r>
            <a:r>
              <a:rPr lang="pt-BR" dirty="0"/>
              <a:t> e </a:t>
            </a:r>
            <a:r>
              <a:rPr lang="pt-BR" b="1" dirty="0"/>
              <a:t>limitações</a:t>
            </a:r>
            <a:r>
              <a:rPr lang="pt-BR" dirty="0"/>
              <a:t> dos mecanismos de processamento de informação do </a:t>
            </a:r>
            <a:r>
              <a:rPr lang="pt-BR" b="1" dirty="0"/>
              <a:t>usuário</a:t>
            </a:r>
            <a:r>
              <a:rPr lang="pt-BR" dirty="0"/>
              <a:t> (raciocínio, memória)</a:t>
            </a:r>
          </a:p>
          <a:p>
            <a:r>
              <a:rPr lang="pt-BR" dirty="0"/>
              <a:t>Imagem do sistema</a:t>
            </a:r>
          </a:p>
          <a:p>
            <a:pPr lvl="1"/>
            <a:r>
              <a:rPr lang="pt-BR" dirty="0"/>
              <a:t>Corresponde ao </a:t>
            </a:r>
            <a:r>
              <a:rPr lang="pt-BR" b="1" dirty="0"/>
              <a:t>sistema executável</a:t>
            </a:r>
          </a:p>
          <a:p>
            <a:pPr lvl="1"/>
            <a:r>
              <a:rPr lang="pt-BR" dirty="0"/>
              <a:t>Modelo </a:t>
            </a:r>
            <a:r>
              <a:rPr lang="pt-BR" b="1" dirty="0"/>
              <a:t>físico</a:t>
            </a:r>
            <a:r>
              <a:rPr lang="pt-BR" dirty="0"/>
              <a:t> construído com </a:t>
            </a:r>
            <a:r>
              <a:rPr lang="pt-BR" b="1" dirty="0"/>
              <a:t>base</a:t>
            </a:r>
            <a:r>
              <a:rPr lang="pt-BR" dirty="0"/>
              <a:t> no modelo conceitual de </a:t>
            </a:r>
            <a:r>
              <a:rPr lang="pt-BR" b="1" dirty="0"/>
              <a:t>design</a:t>
            </a:r>
          </a:p>
          <a:p>
            <a:pPr lvl="1"/>
            <a:r>
              <a:rPr lang="pt-BR" dirty="0"/>
              <a:t>Deve ser </a:t>
            </a:r>
            <a:r>
              <a:rPr lang="pt-BR" b="1" dirty="0"/>
              <a:t>explícita, inteligível e consistente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conceituais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 do usuário</a:t>
            </a:r>
          </a:p>
          <a:p>
            <a:pPr lvl="1"/>
            <a:r>
              <a:rPr lang="pt-BR" dirty="0"/>
              <a:t>Modelo </a:t>
            </a:r>
            <a:r>
              <a:rPr lang="pt-BR" b="1" dirty="0"/>
              <a:t>conceitual</a:t>
            </a:r>
            <a:r>
              <a:rPr lang="pt-BR" dirty="0"/>
              <a:t> construído pelo </a:t>
            </a:r>
            <a:r>
              <a:rPr lang="pt-BR" b="1" dirty="0"/>
              <a:t>usuário</a:t>
            </a:r>
            <a:r>
              <a:rPr lang="pt-BR" dirty="0"/>
              <a:t> durante a </a:t>
            </a:r>
            <a:r>
              <a:rPr lang="pt-BR" b="1" dirty="0"/>
              <a:t>interação</a:t>
            </a:r>
            <a:r>
              <a:rPr lang="pt-BR" dirty="0"/>
              <a:t> com o sistema</a:t>
            </a:r>
          </a:p>
          <a:p>
            <a:pPr lvl="1"/>
            <a:r>
              <a:rPr lang="pt-BR" dirty="0"/>
              <a:t>Resulta da </a:t>
            </a:r>
            <a:r>
              <a:rPr lang="pt-BR" b="1" dirty="0"/>
              <a:t>interpretação</a:t>
            </a:r>
            <a:r>
              <a:rPr lang="pt-BR" dirty="0"/>
              <a:t> da imagem do sistema</a:t>
            </a:r>
          </a:p>
          <a:p>
            <a:r>
              <a:rPr lang="pt-BR" dirty="0"/>
              <a:t>Objetivo do designer</a:t>
            </a:r>
          </a:p>
          <a:p>
            <a:pPr lvl="1"/>
            <a:r>
              <a:rPr lang="pt-BR" dirty="0"/>
              <a:t>Fazer o </a:t>
            </a:r>
            <a:r>
              <a:rPr lang="pt-BR" b="1" dirty="0"/>
              <a:t>usuário</a:t>
            </a:r>
            <a:r>
              <a:rPr lang="pt-BR" dirty="0"/>
              <a:t> ser capaz de </a:t>
            </a:r>
            <a:r>
              <a:rPr lang="pt-BR" b="1" dirty="0"/>
              <a:t>elaborar</a:t>
            </a:r>
            <a:r>
              <a:rPr lang="pt-BR" dirty="0"/>
              <a:t> um modelo conceitual </a:t>
            </a:r>
            <a:r>
              <a:rPr lang="pt-BR" b="1" dirty="0"/>
              <a:t>compatível</a:t>
            </a:r>
            <a:r>
              <a:rPr lang="pt-BR" dirty="0"/>
              <a:t> com o modelo de </a:t>
            </a:r>
            <a:r>
              <a:rPr lang="pt-BR" b="1" dirty="0"/>
              <a:t>design</a:t>
            </a:r>
            <a:r>
              <a:rPr lang="pt-BR" dirty="0"/>
              <a:t> através da sua </a:t>
            </a:r>
            <a:r>
              <a:rPr lang="pt-BR" b="1" dirty="0"/>
              <a:t>interação</a:t>
            </a:r>
            <a:r>
              <a:rPr lang="pt-BR" dirty="0"/>
              <a:t> com a </a:t>
            </a:r>
            <a:r>
              <a:rPr lang="pt-BR" b="1" dirty="0"/>
              <a:t>imagem</a:t>
            </a:r>
            <a:r>
              <a:rPr lang="pt-BR" dirty="0"/>
              <a:t> do sistema.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329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da 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Norman propôs uma </a:t>
            </a:r>
            <a:r>
              <a:rPr lang="pt-BR" b="1" dirty="0"/>
              <a:t>teoria da ação </a:t>
            </a:r>
            <a:r>
              <a:rPr lang="pt-BR" dirty="0"/>
              <a:t>que distingue diversos </a:t>
            </a:r>
            <a:r>
              <a:rPr lang="pt-BR" b="1" dirty="0"/>
              <a:t>estágios de atividade </a:t>
            </a:r>
            <a:r>
              <a:rPr lang="pt-BR" dirty="0"/>
              <a:t>ocorridos durante a </a:t>
            </a:r>
            <a:r>
              <a:rPr lang="pt-BR" b="1" dirty="0"/>
              <a:t>interação</a:t>
            </a:r>
            <a:r>
              <a:rPr lang="pt-BR" dirty="0"/>
              <a:t> usuário-sistema</a:t>
            </a:r>
          </a:p>
          <a:p>
            <a:r>
              <a:rPr lang="pt-BR" dirty="0"/>
              <a:t>A </a:t>
            </a:r>
            <a:r>
              <a:rPr lang="pt-BR" b="1" dirty="0"/>
              <a:t>discrepância</a:t>
            </a:r>
            <a:r>
              <a:rPr lang="pt-BR" dirty="0"/>
              <a:t> entre as variáveis </a:t>
            </a:r>
            <a:r>
              <a:rPr lang="pt-BR" b="1" dirty="0"/>
              <a:t>psicológicas</a:t>
            </a:r>
            <a:r>
              <a:rPr lang="pt-BR" dirty="0"/>
              <a:t> e </a:t>
            </a:r>
            <a:r>
              <a:rPr lang="pt-BR" b="1" dirty="0"/>
              <a:t>físicas</a:t>
            </a:r>
            <a:r>
              <a:rPr lang="pt-BR" dirty="0"/>
              <a:t> é representada por Norman através de dois </a:t>
            </a:r>
            <a:r>
              <a:rPr lang="pt-BR" b="1" dirty="0"/>
              <a:t>golfos</a:t>
            </a:r>
            <a:r>
              <a:rPr lang="pt-BR" dirty="0"/>
              <a:t> que precisam ser superados ou “</a:t>
            </a:r>
            <a:r>
              <a:rPr lang="pt-BR" b="1" dirty="0"/>
              <a:t>atravessados</a:t>
            </a:r>
            <a:r>
              <a:rPr lang="pt-BR" dirty="0"/>
              <a:t>”</a:t>
            </a:r>
          </a:p>
          <a:p>
            <a:pPr lvl="0"/>
            <a:r>
              <a:rPr lang="pt-BR" dirty="0"/>
              <a:t>O processo de </a:t>
            </a:r>
            <a:r>
              <a:rPr lang="pt-BR" b="1" dirty="0"/>
              <a:t>interação</a:t>
            </a:r>
            <a:r>
              <a:rPr lang="pt-BR" dirty="0"/>
              <a:t> com um artefato pode ser visto como </a:t>
            </a:r>
            <a:r>
              <a:rPr lang="pt-BR" b="1" dirty="0"/>
              <a:t>ciclos de ação </a:t>
            </a:r>
            <a:r>
              <a:rPr lang="pt-BR" dirty="0"/>
              <a:t>envolvendo fases de </a:t>
            </a:r>
            <a:r>
              <a:rPr lang="pt-BR" b="1" dirty="0"/>
              <a:t>execução</a:t>
            </a:r>
            <a:r>
              <a:rPr lang="pt-BR" dirty="0"/>
              <a:t> e de </a:t>
            </a:r>
            <a:r>
              <a:rPr lang="pt-BR" b="1" dirty="0"/>
              <a:t>avaliação</a:t>
            </a:r>
            <a:r>
              <a:rPr lang="pt-BR" dirty="0"/>
              <a:t>, alternadamente.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64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Teoria da 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Golfos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10</a:t>
            </a:fld>
            <a:endParaRPr lang="pt-BR"/>
          </a:p>
        </p:txBody>
      </p:sp>
      <p:pic>
        <p:nvPicPr>
          <p:cNvPr id="12" name="Picture 2" descr="D:\Meus Documentos\Docs\FTP\Livro de IHC\material para o site\figuras\Figura 3.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2143198"/>
            <a:ext cx="8298180" cy="381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1726594" y="5891789"/>
            <a:ext cx="19262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variáveis </a:t>
            </a:r>
            <a:r>
              <a:rPr lang="pt-B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psicológicas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8328248" y="5884530"/>
            <a:ext cx="22091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variáveis e controles </a:t>
            </a:r>
          </a:p>
          <a:p>
            <a:r>
              <a:rPr lang="pt-BR" sz="2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físicos</a:t>
            </a:r>
          </a:p>
        </p:txBody>
      </p:sp>
      <p:cxnSp>
        <p:nvCxnSpPr>
          <p:cNvPr id="10" name="Conector reto 9"/>
          <p:cNvCxnSpPr>
            <a:stCxn id="8" idx="3"/>
            <a:endCxn id="9" idx="1"/>
          </p:cNvCxnSpPr>
          <p:nvPr/>
        </p:nvCxnSpPr>
        <p:spPr>
          <a:xfrm>
            <a:off x="3652808" y="6276510"/>
            <a:ext cx="4675440" cy="435"/>
          </a:xfrm>
          <a:prstGeom prst="line">
            <a:avLst/>
          </a:prstGeom>
          <a:ln w="60325" cap="rnd">
            <a:solidFill>
              <a:schemeClr val="bg1">
                <a:lumMod val="50000"/>
              </a:schemeClr>
            </a:solidFill>
            <a:prstDash val="sysDot"/>
            <a:round/>
            <a:headEnd type="none" w="med" len="sm"/>
            <a:tailEnd type="none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5195900" y="5883369"/>
            <a:ext cx="162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distância entre</a:t>
            </a:r>
          </a:p>
        </p:txBody>
      </p:sp>
    </p:spTree>
    <p:extLst>
      <p:ext uri="{BB962C8B-B14F-4D97-AF65-F5344CB8AC3E}">
        <p14:creationId xmlns:p14="http://schemas.microsoft.com/office/powerpoint/2010/main" val="191455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da 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 golfo é </a:t>
            </a:r>
            <a:r>
              <a:rPr lang="pt-BR" b="1" dirty="0"/>
              <a:t>unidirecional</a:t>
            </a:r>
          </a:p>
          <a:p>
            <a:pPr lvl="1"/>
            <a:r>
              <a:rPr lang="pt-BR" dirty="0"/>
              <a:t>o golfo de </a:t>
            </a:r>
            <a:r>
              <a:rPr lang="pt-BR" b="1" dirty="0"/>
              <a:t>execução</a:t>
            </a:r>
            <a:r>
              <a:rPr lang="pt-BR" dirty="0"/>
              <a:t> vai dos </a:t>
            </a:r>
            <a:r>
              <a:rPr lang="pt-BR" b="1" dirty="0"/>
              <a:t>objetivos</a:t>
            </a:r>
            <a:r>
              <a:rPr lang="pt-BR" dirty="0"/>
              <a:t> do usuário para o </a:t>
            </a:r>
            <a:r>
              <a:rPr lang="pt-BR" b="1" dirty="0"/>
              <a:t>estado</a:t>
            </a:r>
            <a:r>
              <a:rPr lang="pt-BR" dirty="0"/>
              <a:t> do sistema;</a:t>
            </a:r>
          </a:p>
          <a:p>
            <a:pPr lvl="1"/>
            <a:r>
              <a:rPr lang="pt-BR" dirty="0"/>
              <a:t>o golfo de </a:t>
            </a:r>
            <a:r>
              <a:rPr lang="pt-BR" b="1" dirty="0"/>
              <a:t>avaliação</a:t>
            </a:r>
            <a:r>
              <a:rPr lang="pt-BR" dirty="0"/>
              <a:t> vai do </a:t>
            </a:r>
            <a:r>
              <a:rPr lang="pt-BR" b="1" dirty="0"/>
              <a:t>estado</a:t>
            </a:r>
            <a:r>
              <a:rPr lang="pt-BR" dirty="0"/>
              <a:t> do sistema para os </a:t>
            </a:r>
            <a:r>
              <a:rPr lang="pt-BR" b="1" dirty="0"/>
              <a:t>objetivos</a:t>
            </a:r>
            <a:r>
              <a:rPr lang="pt-BR" dirty="0"/>
              <a:t> do usuário. 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6558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Golfos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81000" y="1575037"/>
            <a:ext cx="11091664" cy="2214003"/>
          </a:xfrm>
          <a:solidFill>
            <a:srgbClr val="DDE8F7"/>
          </a:solidFill>
        </p:spPr>
        <p:txBody>
          <a:bodyPr>
            <a:normAutofit fontScale="92500" lnSpcReduction="10000"/>
          </a:bodyPr>
          <a:lstStyle/>
          <a:p>
            <a:r>
              <a:rPr lang="pt-BR" sz="2600" dirty="0"/>
              <a:t>Golfo de </a:t>
            </a:r>
            <a:r>
              <a:rPr lang="pt-BR" sz="2600" b="1" dirty="0"/>
              <a:t>execução</a:t>
            </a:r>
          </a:p>
          <a:p>
            <a:pPr lvl="1"/>
            <a:r>
              <a:rPr lang="pt-BR" dirty="0"/>
              <a:t>Refere-se à </a:t>
            </a:r>
            <a:r>
              <a:rPr lang="pt-BR" b="1" dirty="0"/>
              <a:t>dificuldade</a:t>
            </a:r>
            <a:r>
              <a:rPr lang="pt-BR" dirty="0"/>
              <a:t> de </a:t>
            </a:r>
            <a:r>
              <a:rPr lang="pt-BR" b="1" dirty="0"/>
              <a:t>atuar</a:t>
            </a:r>
            <a:r>
              <a:rPr lang="pt-BR" dirty="0"/>
              <a:t> sobre o ambiente e ao grau de </a:t>
            </a:r>
            <a:r>
              <a:rPr lang="pt-BR" b="1" dirty="0"/>
              <a:t>sucesso</a:t>
            </a:r>
            <a:r>
              <a:rPr lang="pt-BR" dirty="0"/>
              <a:t> com que o artefato </a:t>
            </a:r>
            <a:r>
              <a:rPr lang="pt-BR" b="1" dirty="0"/>
              <a:t>apoia</a:t>
            </a:r>
            <a:r>
              <a:rPr lang="pt-BR" dirty="0"/>
              <a:t> essas ações</a:t>
            </a:r>
          </a:p>
          <a:p>
            <a:pPr lvl="1"/>
            <a:r>
              <a:rPr lang="pt-BR" dirty="0"/>
              <a:t>O golfo de execução é atravessado quando os comandos e </a:t>
            </a:r>
            <a:r>
              <a:rPr lang="pt-BR" b="1" dirty="0"/>
              <a:t>mecanismos</a:t>
            </a:r>
            <a:r>
              <a:rPr lang="pt-BR" dirty="0"/>
              <a:t> do sistema </a:t>
            </a:r>
            <a:r>
              <a:rPr lang="pt-BR" b="1" dirty="0"/>
              <a:t>casam</a:t>
            </a:r>
            <a:r>
              <a:rPr lang="pt-BR" dirty="0"/>
              <a:t> com os pensamentos e </a:t>
            </a:r>
            <a:r>
              <a:rPr lang="pt-BR" b="1" dirty="0"/>
              <a:t>objetivos</a:t>
            </a:r>
            <a:r>
              <a:rPr lang="pt-BR" dirty="0"/>
              <a:t> do usuário.</a:t>
            </a:r>
          </a:p>
          <a:p>
            <a:pPr lvl="1"/>
            <a:r>
              <a:rPr lang="pt-BR" dirty="0"/>
              <a:t>Para cruzar este golfo, o usuário deve </a:t>
            </a:r>
            <a:r>
              <a:rPr lang="pt-BR" b="1" dirty="0"/>
              <a:t>traduzir</a:t>
            </a:r>
            <a:r>
              <a:rPr lang="pt-BR" dirty="0"/>
              <a:t> suas ideias ou </a:t>
            </a:r>
            <a:r>
              <a:rPr lang="pt-BR" b="1" dirty="0"/>
              <a:t>objetivos</a:t>
            </a:r>
            <a:r>
              <a:rPr lang="pt-BR" dirty="0"/>
              <a:t> para a </a:t>
            </a:r>
            <a:r>
              <a:rPr lang="pt-BR" b="1" dirty="0"/>
              <a:t>linguagem</a:t>
            </a:r>
            <a:r>
              <a:rPr lang="pt-BR" dirty="0"/>
              <a:t> dos dispositivos de entrada.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12</a:t>
            </a:fld>
            <a:endParaRPr lang="pt-BR"/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981000" y="3789041"/>
            <a:ext cx="11091664" cy="2448272"/>
          </a:xfrm>
          <a:prstGeom prst="rect">
            <a:avLst/>
          </a:prstGeom>
          <a:solidFill>
            <a:srgbClr val="FAE2CE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Golfo de </a:t>
            </a:r>
            <a:r>
              <a:rPr lang="pt-BR" sz="2400" b="1" dirty="0"/>
              <a:t>avaliação</a:t>
            </a:r>
          </a:p>
          <a:p>
            <a:pPr lvl="1"/>
            <a:r>
              <a:rPr lang="pt-BR" sz="2200" dirty="0"/>
              <a:t>Refere-se à </a:t>
            </a:r>
            <a:r>
              <a:rPr lang="pt-BR" sz="2200" b="1" dirty="0"/>
              <a:t>dificuldade</a:t>
            </a:r>
            <a:r>
              <a:rPr lang="pt-BR" sz="2200" dirty="0"/>
              <a:t> de </a:t>
            </a:r>
            <a:r>
              <a:rPr lang="pt-BR" sz="2200" b="1" dirty="0"/>
              <a:t>avaliar</a:t>
            </a:r>
            <a:r>
              <a:rPr lang="pt-BR" sz="2200" dirty="0"/>
              <a:t> o estado do ambiente e ao grau de </a:t>
            </a:r>
            <a:r>
              <a:rPr lang="pt-BR" sz="2200" b="1" dirty="0"/>
              <a:t>sucesso</a:t>
            </a:r>
            <a:r>
              <a:rPr lang="pt-BR" sz="2200" dirty="0"/>
              <a:t> com que o artefato </a:t>
            </a:r>
            <a:r>
              <a:rPr lang="pt-BR" sz="2200" b="1" dirty="0"/>
              <a:t>apoia</a:t>
            </a:r>
            <a:r>
              <a:rPr lang="pt-BR" sz="2200" dirty="0"/>
              <a:t> a detecção e interpretação desse estado.</a:t>
            </a:r>
          </a:p>
          <a:p>
            <a:pPr lvl="1"/>
            <a:r>
              <a:rPr lang="pt-BR" sz="2200" dirty="0"/>
              <a:t>O golfo de avaliação é atravessado quando a saída apresenta um bom modelo conceitual do </a:t>
            </a:r>
            <a:r>
              <a:rPr lang="pt-BR" sz="2200" b="1" dirty="0"/>
              <a:t>sistema</a:t>
            </a:r>
            <a:r>
              <a:rPr lang="pt-BR" sz="2200" dirty="0"/>
              <a:t>, que é </a:t>
            </a:r>
            <a:r>
              <a:rPr lang="pt-BR" sz="2200" b="1" dirty="0"/>
              <a:t>prontamente</a:t>
            </a:r>
            <a:r>
              <a:rPr lang="pt-BR" sz="2200" dirty="0"/>
              <a:t> percebido, interpretado e avaliado.</a:t>
            </a:r>
          </a:p>
          <a:p>
            <a:pPr lvl="1"/>
            <a:r>
              <a:rPr lang="pt-BR" sz="2200" dirty="0"/>
              <a:t>Para cruzar este golfo, o usuário deve </a:t>
            </a:r>
            <a:r>
              <a:rPr lang="pt-BR" sz="2200" b="1" dirty="0"/>
              <a:t>traduzir</a:t>
            </a:r>
            <a:r>
              <a:rPr lang="pt-BR" sz="2200" dirty="0"/>
              <a:t> a </a:t>
            </a:r>
            <a:r>
              <a:rPr lang="pt-BR" sz="2200" b="1" dirty="0"/>
              <a:t>linguagem</a:t>
            </a:r>
            <a:r>
              <a:rPr lang="pt-BR" sz="2200" dirty="0"/>
              <a:t> de </a:t>
            </a:r>
            <a:r>
              <a:rPr lang="pt-BR" sz="2200" b="1" dirty="0"/>
              <a:t>saída</a:t>
            </a:r>
            <a:r>
              <a:rPr lang="pt-BR" sz="2200" dirty="0"/>
              <a:t> do sistema para a sua </a:t>
            </a:r>
            <a:r>
              <a:rPr lang="pt-BR" sz="2200" b="1" dirty="0"/>
              <a:t>própria</a:t>
            </a:r>
            <a:r>
              <a:rPr lang="pt-BR" sz="2200" dirty="0"/>
              <a:t> </a:t>
            </a:r>
            <a:r>
              <a:rPr lang="pt-BR" sz="2200" b="1" dirty="0"/>
              <a:t>linguagem</a:t>
            </a:r>
          </a:p>
        </p:txBody>
      </p:sp>
    </p:spTree>
    <p:extLst>
      <p:ext uri="{BB962C8B-B14F-4D97-AF65-F5344CB8AC3E}">
        <p14:creationId xmlns:p14="http://schemas.microsoft.com/office/powerpoint/2010/main" val="4017323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81000" y="2556519"/>
            <a:ext cx="11091664" cy="1736577"/>
          </a:xfrm>
          <a:solidFill>
            <a:srgbClr val="DDE8F7"/>
          </a:solidFill>
        </p:spPr>
        <p:txBody>
          <a:bodyPr>
            <a:normAutofit/>
          </a:bodyPr>
          <a:lstStyle/>
          <a:p>
            <a:pPr marL="582930" indent="-514350">
              <a:buSzPct val="100000"/>
              <a:buFont typeface="+mj-lt"/>
              <a:buAutoNum type="arabicPeriod" startAt="2"/>
            </a:pPr>
            <a:r>
              <a:rPr lang="pt-BR" dirty="0"/>
              <a:t>O usuário </a:t>
            </a:r>
            <a:r>
              <a:rPr lang="pt-BR" b="1" dirty="0"/>
              <a:t>formula uma intenção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r>
              <a:rPr lang="pt-BR" dirty="0"/>
              <a:t>Decisão de agir em direção ao objetivo, estabelecendo um </a:t>
            </a:r>
            <a:r>
              <a:rPr lang="pt-BR" dirty="0" err="1"/>
              <a:t>subobjetivo</a:t>
            </a:r>
            <a:r>
              <a:rPr lang="pt-BR" dirty="0"/>
              <a:t> que ele poderá alcançar </a:t>
            </a:r>
            <a:r>
              <a:rPr lang="pt-BR" i="1" dirty="0"/>
              <a:t>diretamente</a:t>
            </a:r>
            <a:r>
              <a:rPr lang="pt-BR" dirty="0"/>
              <a:t> através do uso do sistema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r>
              <a:rPr lang="pt-BR" dirty="0"/>
              <a:t>O usuário escolhe uma </a:t>
            </a:r>
            <a:r>
              <a:rPr lang="pt-BR" i="1" dirty="0"/>
              <a:t>estratégia</a:t>
            </a:r>
            <a:r>
              <a:rPr lang="pt-BR" dirty="0"/>
              <a:t> para alcançar seu objetivo.</a:t>
            </a:r>
          </a:p>
          <a:p>
            <a:pPr marL="68580" indent="0">
              <a:buSzPct val="100000"/>
              <a:buNone/>
            </a:pPr>
            <a:endParaRPr lang="pt-BR" dirty="0"/>
          </a:p>
          <a:p>
            <a:pPr marL="525780" indent="-457200">
              <a:buSzPct val="100000"/>
              <a:buFont typeface="+mj-lt"/>
              <a:buAutoNum type="arabicPeriod"/>
            </a:pPr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13</a:t>
            </a:fld>
            <a:endParaRPr lang="pt-BR" dirty="0"/>
          </a:p>
        </p:txBody>
      </p:sp>
      <p:sp>
        <p:nvSpPr>
          <p:cNvPr id="9" name="Espaço Reservado para Conteúdo 2"/>
          <p:cNvSpPr txBox="1">
            <a:spLocks/>
          </p:cNvSpPr>
          <p:nvPr/>
        </p:nvSpPr>
        <p:spPr>
          <a:xfrm>
            <a:off x="983432" y="1575037"/>
            <a:ext cx="11091664" cy="9814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indent="-457200">
              <a:buSzPct val="100000"/>
              <a:buFont typeface="+mj-lt"/>
              <a:buAutoNum type="arabicPeriod"/>
            </a:pPr>
            <a:r>
              <a:rPr lang="pt-BR" dirty="0"/>
              <a:t>O usuário </a:t>
            </a:r>
            <a:r>
              <a:rPr lang="pt-BR" b="1" dirty="0"/>
              <a:t>estabelece um objetivo de alto nível</a:t>
            </a:r>
          </a:p>
          <a:p>
            <a:pPr lvl="1">
              <a:buSzPct val="100000"/>
            </a:pPr>
            <a:r>
              <a:rPr lang="pt-BR" dirty="0"/>
              <a:t>um </a:t>
            </a:r>
            <a:r>
              <a:rPr lang="pt-BR" i="1" dirty="0"/>
              <a:t>estado do mundo </a:t>
            </a:r>
            <a:r>
              <a:rPr lang="pt-BR" dirty="0"/>
              <a:t>que ele deseja alcançar através da </a:t>
            </a:r>
            <a:r>
              <a:rPr lang="pt-BR" i="1" dirty="0"/>
              <a:t>interação</a:t>
            </a:r>
            <a:r>
              <a:rPr lang="pt-BR" dirty="0"/>
              <a:t> com o sistema</a:t>
            </a:r>
          </a:p>
        </p:txBody>
      </p:sp>
    </p:spTree>
    <p:extLst>
      <p:ext uri="{BB962C8B-B14F-4D97-AF65-F5344CB8AC3E}">
        <p14:creationId xmlns:p14="http://schemas.microsoft.com/office/powerpoint/2010/main" val="395609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ações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"/>
          </p:nvPr>
        </p:nvSpPr>
        <p:spPr>
          <a:xfrm>
            <a:off x="981000" y="1575037"/>
            <a:ext cx="11091664" cy="2934083"/>
          </a:xfrm>
          <a:solidFill>
            <a:srgbClr val="DDE8F7"/>
          </a:solidFill>
        </p:spPr>
        <p:txBody>
          <a:bodyPr>
            <a:normAutofit/>
          </a:bodyPr>
          <a:lstStyle/>
          <a:p>
            <a:pPr marL="525780" indent="-457200">
              <a:buSzPct val="100000"/>
              <a:buFont typeface="+mj-lt"/>
              <a:buAutoNum type="arabicPeriod" startAt="3"/>
            </a:pPr>
            <a:r>
              <a:rPr lang="pt-BR" dirty="0"/>
              <a:t>O usuário </a:t>
            </a:r>
            <a:r>
              <a:rPr lang="pt-BR" b="1" dirty="0"/>
              <a:t>especifica as ações </a:t>
            </a:r>
            <a:r>
              <a:rPr lang="pt-BR" dirty="0"/>
              <a:t>a ser realizada</a:t>
            </a:r>
          </a:p>
          <a:p>
            <a:pPr lvl="1">
              <a:buSzPct val="100000"/>
            </a:pPr>
            <a:r>
              <a:rPr lang="pt-BR" dirty="0"/>
              <a:t>Quais configurações das </a:t>
            </a:r>
            <a:r>
              <a:rPr lang="pt-BR" i="1" dirty="0"/>
              <a:t>variáveis do sistema </a:t>
            </a:r>
            <a:r>
              <a:rPr lang="pt-BR" dirty="0"/>
              <a:t>correspondem ao estado desejado?</a:t>
            </a:r>
          </a:p>
          <a:p>
            <a:pPr lvl="1">
              <a:buSzPct val="100000"/>
            </a:pPr>
            <a:r>
              <a:rPr lang="pt-BR" dirty="0"/>
              <a:t>Quais </a:t>
            </a:r>
            <a:r>
              <a:rPr lang="pt-BR" i="1" dirty="0"/>
              <a:t>mecanismos de controle</a:t>
            </a:r>
            <a:r>
              <a:rPr lang="pt-BR" dirty="0"/>
              <a:t> levam a esse estado?</a:t>
            </a:r>
          </a:p>
          <a:p>
            <a:pPr lvl="1">
              <a:buSzPct val="100000"/>
            </a:pPr>
            <a:r>
              <a:rPr lang="pt-BR" dirty="0"/>
              <a:t>Planejamento do usuário, cujo resultado é uma </a:t>
            </a:r>
            <a:r>
              <a:rPr lang="pt-BR" i="1" dirty="0"/>
              <a:t>representação mental </a:t>
            </a:r>
            <a:r>
              <a:rPr lang="pt-BR" dirty="0"/>
              <a:t>de quais ações devem ser executadas sobre a interface e em que </a:t>
            </a:r>
            <a:r>
              <a:rPr lang="pt-BR" i="1" dirty="0"/>
              <a:t>ordem</a:t>
            </a:r>
          </a:p>
          <a:p>
            <a:pPr marL="525780" indent="-457200">
              <a:buSzPct val="100000"/>
              <a:buFont typeface="+mj-lt"/>
              <a:buAutoNum type="arabicPeriod" startAt="3"/>
            </a:pPr>
            <a:r>
              <a:rPr lang="pt-BR" dirty="0"/>
              <a:t>O usuário </a:t>
            </a:r>
            <a:r>
              <a:rPr lang="pt-BR" b="1" dirty="0"/>
              <a:t>executa as ações </a:t>
            </a:r>
            <a:r>
              <a:rPr lang="pt-BR" dirty="0"/>
              <a:t>planejadas, seguindo a ordem especificada</a:t>
            </a:r>
          </a:p>
          <a:p>
            <a:pPr lvl="1">
              <a:buSzPct val="100000"/>
            </a:pPr>
            <a:r>
              <a:rPr lang="pt-BR" dirty="0"/>
              <a:t>Manipular </a:t>
            </a:r>
            <a:r>
              <a:rPr lang="pt-BR" i="1" dirty="0"/>
              <a:t>dispositivos de entrada </a:t>
            </a:r>
            <a:r>
              <a:rPr lang="pt-BR" dirty="0"/>
              <a:t>da interface</a:t>
            </a:r>
          </a:p>
          <a:p>
            <a:pPr marL="525780" indent="-457200">
              <a:buSzPct val="100000"/>
              <a:buFont typeface="+mj-lt"/>
              <a:buAutoNum type="arabicPeriod"/>
            </a:pPr>
            <a:endParaRPr lang="pt-BR" dirty="0"/>
          </a:p>
          <a:p>
            <a:pPr marL="525780" indent="-457200">
              <a:buSzPct val="100000"/>
              <a:buFont typeface="+mj-lt"/>
              <a:buAutoNum type="arabicPeriod"/>
            </a:pPr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6150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ações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"/>
          </p:nvPr>
        </p:nvSpPr>
        <p:spPr>
          <a:xfrm>
            <a:off x="981000" y="1575037"/>
            <a:ext cx="11091664" cy="3870187"/>
          </a:xfrm>
          <a:solidFill>
            <a:srgbClr val="FAE2CE"/>
          </a:solidFill>
        </p:spPr>
        <p:txBody>
          <a:bodyPr>
            <a:normAutofit/>
          </a:bodyPr>
          <a:lstStyle/>
          <a:p>
            <a:pPr marL="525780" indent="-457200">
              <a:buSzPct val="100000"/>
              <a:buFont typeface="+mj-lt"/>
              <a:buAutoNum type="arabicPeriod" startAt="5"/>
            </a:pPr>
            <a:r>
              <a:rPr lang="pt-BR" dirty="0"/>
              <a:t>O usuário </a:t>
            </a:r>
            <a:r>
              <a:rPr lang="pt-BR" b="1" dirty="0"/>
              <a:t>percebe a mudança</a:t>
            </a:r>
            <a:r>
              <a:rPr lang="pt-BR" dirty="0"/>
              <a:t> de estado da interface ou uma ausência de resposta do sistema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r>
              <a:rPr lang="pt-BR" dirty="0"/>
              <a:t>Recebido pelos </a:t>
            </a:r>
            <a:r>
              <a:rPr lang="pt-BR" i="1" dirty="0"/>
              <a:t>dispositivos de saída </a:t>
            </a:r>
            <a:r>
              <a:rPr lang="pt-BR" dirty="0"/>
              <a:t>da interface</a:t>
            </a:r>
          </a:p>
          <a:p>
            <a:pPr marL="525780" indent="-457200">
              <a:buSzPct val="100000"/>
              <a:buFont typeface="+mj-lt"/>
              <a:buAutoNum type="arabicPeriod" startAt="5"/>
            </a:pPr>
            <a:r>
              <a:rPr lang="pt-BR" dirty="0"/>
              <a:t>O usuário </a:t>
            </a:r>
            <a:r>
              <a:rPr lang="pt-BR" b="1" dirty="0"/>
              <a:t>interpreta o novo estado do sistema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r>
              <a:rPr lang="pt-BR" dirty="0"/>
              <a:t>Atribui um significado ao que é percebido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r>
              <a:rPr lang="pt-BR" dirty="0"/>
              <a:t>Ausência de resposta = “nada aconteceu”</a:t>
            </a:r>
          </a:p>
          <a:p>
            <a:pPr marL="525780" indent="-457200">
              <a:buSzPct val="100000"/>
              <a:buFont typeface="+mj-lt"/>
              <a:buAutoNum type="arabicPeriod" startAt="5"/>
            </a:pPr>
            <a:r>
              <a:rPr lang="pt-BR" dirty="0"/>
              <a:t>O usuário avalia o novo estado do sistema e compara com o estado desejado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r>
              <a:rPr lang="pt-BR" dirty="0"/>
              <a:t>Corresponde à intenção formulada e ao objetivo almejado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endParaRPr lang="pt-BR" dirty="0"/>
          </a:p>
          <a:p>
            <a:pPr marL="525780" indent="-457200">
              <a:buSzPct val="100000"/>
              <a:buFont typeface="+mj-lt"/>
              <a:buAutoNum type="arabicPeriod" startAt="3"/>
            </a:pPr>
            <a:endParaRPr lang="pt-BR" dirty="0"/>
          </a:p>
          <a:p>
            <a:pPr marL="525780" indent="-457200">
              <a:buSzPct val="100000"/>
              <a:buFont typeface="+mj-lt"/>
              <a:buAutoNum type="arabicPeriod" startAt="3"/>
            </a:pPr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7462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resultado da avaliação determina se as ações realizadas contribuíram para o usuário se aproximar do seu objetivo ou não.</a:t>
            </a:r>
          </a:p>
          <a:p>
            <a:pPr lvl="1"/>
            <a:r>
              <a:rPr lang="pt-BR" dirty="0"/>
              <a:t>Se estado interpretado = estado desejado </a:t>
            </a:r>
            <a:r>
              <a:rPr lang="pt-BR" dirty="0">
                <a:sym typeface="Wingdings" panose="05000000000000000000" pitchFamily="2" charset="2"/>
              </a:rPr>
              <a:t> atingiu o objetivo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Se </a:t>
            </a:r>
            <a:r>
              <a:rPr lang="pt-BR" dirty="0"/>
              <a:t>estado interpretado </a:t>
            </a:r>
            <a:r>
              <a:rPr lang="pt-BR" dirty="0">
                <a:sym typeface="Symbol"/>
              </a:rPr>
              <a:t> </a:t>
            </a:r>
            <a:r>
              <a:rPr lang="pt-BR" dirty="0"/>
              <a:t>estado desejado </a:t>
            </a:r>
            <a:r>
              <a:rPr lang="pt-BR" dirty="0">
                <a:sym typeface="Wingdings" panose="05000000000000000000" pitchFamily="2" charset="2"/>
              </a:rPr>
              <a:t> o ciclo deve reiniciar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7996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Etapas da interação usuário-sistema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81000" y="2337706"/>
            <a:ext cx="11091664" cy="4018644"/>
          </a:xfrm>
          <a:solidFill>
            <a:srgbClr val="DDE8F7"/>
          </a:solidFill>
        </p:spPr>
        <p:txBody>
          <a:bodyPr>
            <a:normAutofit/>
          </a:bodyPr>
          <a:lstStyle/>
          <a:p>
            <a:pPr marL="525780" indent="-457200">
              <a:buSzPct val="100000"/>
              <a:buFont typeface="+mj-lt"/>
              <a:buAutoNum type="arabicPeriod"/>
            </a:pPr>
            <a:r>
              <a:rPr lang="pt-BR" sz="2400" dirty="0"/>
              <a:t>Formulação da intenção</a:t>
            </a:r>
          </a:p>
          <a:p>
            <a:pPr marL="811530" lvl="1" indent="-285750">
              <a:buSzPct val="100000"/>
            </a:pPr>
            <a:r>
              <a:rPr lang="pt-BR" sz="2200" dirty="0"/>
              <a:t>Quero procurar a referência completa do livro “Interação Humano-Computador”, de Simone Barbosa e Bruno da Silva.</a:t>
            </a:r>
          </a:p>
          <a:p>
            <a:pPr marL="525780" indent="-457200">
              <a:buSzPct val="100000"/>
              <a:buFont typeface="+mj-lt"/>
              <a:buAutoNum type="arabicPeriod"/>
            </a:pPr>
            <a:r>
              <a:rPr lang="pt-BR" sz="2400" dirty="0"/>
              <a:t>Especificação da sequência de ações: </a:t>
            </a:r>
          </a:p>
          <a:p>
            <a:pPr marL="811530" lvl="1" indent="-285750">
              <a:buSzPct val="100000"/>
            </a:pPr>
            <a:r>
              <a:rPr lang="pt-BR" sz="2200" dirty="0"/>
              <a:t>Devo selecionar o comando de “busca” e entrar com os dados que eu tenho.</a:t>
            </a:r>
          </a:p>
          <a:p>
            <a:pPr marL="525780" indent="-457200">
              <a:buSzPct val="100000"/>
              <a:buFont typeface="+mj-lt"/>
              <a:buAutoNum type="arabicPeriod"/>
            </a:pPr>
            <a:r>
              <a:rPr lang="pt-BR" sz="2400" dirty="0"/>
              <a:t>Execução</a:t>
            </a:r>
          </a:p>
          <a:p>
            <a:pPr marL="811530" lvl="1" indent="-285750">
              <a:buSzPct val="100000"/>
            </a:pPr>
            <a:r>
              <a:rPr lang="pt-BR" sz="2200" dirty="0"/>
              <a:t>Ativo “busca” no menu;</a:t>
            </a:r>
          </a:p>
          <a:p>
            <a:pPr marL="811530" lvl="1" indent="-285750">
              <a:buSzPct val="100000"/>
            </a:pPr>
            <a:r>
              <a:rPr lang="pt-BR" sz="2200" dirty="0"/>
              <a:t>Digito o nome do livro no campo “nome do livro”;</a:t>
            </a:r>
          </a:p>
          <a:p>
            <a:pPr marL="811530" lvl="1" indent="-285750">
              <a:buSzPct val="100000"/>
            </a:pPr>
            <a:r>
              <a:rPr lang="pt-BR" sz="2200" dirty="0"/>
              <a:t>Digito o nome do autor no campo “nome do autor”;</a:t>
            </a:r>
          </a:p>
          <a:p>
            <a:pPr marL="811530" lvl="1" indent="-285750">
              <a:buSzPct val="100000"/>
            </a:pPr>
            <a:r>
              <a:rPr lang="pt-BR" sz="2200" dirty="0"/>
              <a:t>Seleciono “OK”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17</a:t>
            </a:fld>
            <a:endParaRPr lang="pt-BR"/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983432" y="1556792"/>
            <a:ext cx="11091664" cy="7809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Em um sistema de biblioteca, um usuário que queira fazer uma consulta sobre um livro ou artigo poderia passar pelas seguintes etapas de interação:</a:t>
            </a:r>
          </a:p>
        </p:txBody>
      </p:sp>
    </p:spTree>
    <p:extLst>
      <p:ext uri="{BB962C8B-B14F-4D97-AF65-F5344CB8AC3E}">
        <p14:creationId xmlns:p14="http://schemas.microsoft.com/office/powerpoint/2010/main" val="711263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Etapas da interação usuário-sistema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81000" y="1575037"/>
            <a:ext cx="11091664" cy="2718059"/>
          </a:xfrm>
          <a:solidFill>
            <a:srgbClr val="FAE2CE"/>
          </a:solidFill>
        </p:spPr>
        <p:txBody>
          <a:bodyPr>
            <a:normAutofit/>
          </a:bodyPr>
          <a:lstStyle/>
          <a:p>
            <a:pPr marL="582930" indent="-514350">
              <a:buSzPct val="100000"/>
              <a:buFont typeface="+mj-lt"/>
              <a:buAutoNum type="arabicPeriod" startAt="4"/>
            </a:pPr>
            <a:r>
              <a:rPr lang="pt-BR" dirty="0"/>
              <a:t>Percepção</a:t>
            </a:r>
          </a:p>
          <a:p>
            <a:pPr marL="868680" lvl="1" indent="-342900">
              <a:buSzPct val="100000"/>
            </a:pPr>
            <a:r>
              <a:rPr lang="pt-BR" dirty="0"/>
              <a:t>Apareceu uma nova tela com dados de livro.</a:t>
            </a:r>
          </a:p>
          <a:p>
            <a:pPr marL="525780" indent="-457200">
              <a:buSzPct val="100000"/>
              <a:buFont typeface="+mj-lt"/>
              <a:buAutoNum type="arabicPeriod" startAt="4"/>
            </a:pPr>
            <a:r>
              <a:rPr lang="pt-BR" dirty="0"/>
              <a:t>Interpretação</a:t>
            </a:r>
          </a:p>
          <a:p>
            <a:pPr marL="868680" lvl="1" indent="-342900">
              <a:buSzPct val="100000"/>
            </a:pPr>
            <a:r>
              <a:rPr lang="pt-BR" dirty="0"/>
              <a:t>Os dados apresentados correspondem à busca que eu fiz.</a:t>
            </a:r>
          </a:p>
          <a:p>
            <a:pPr marL="525780" indent="-457200">
              <a:buSzPct val="100000"/>
              <a:buFont typeface="+mj-lt"/>
              <a:buAutoNum type="arabicPeriod" startAt="4"/>
            </a:pPr>
            <a:r>
              <a:rPr lang="pt-BR" dirty="0"/>
              <a:t>Avaliação</a:t>
            </a:r>
          </a:p>
          <a:p>
            <a:pPr marL="868680" lvl="1" indent="-342900">
              <a:buSzPct val="100000"/>
            </a:pPr>
            <a:r>
              <a:rPr lang="pt-BR" dirty="0"/>
              <a:t>Encontrei as informações que eu queria. Completei a tarefa com sucesso.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497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Travessia de golfos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dirty="0"/>
              <a:t>O golfo de execução e o golfo de avaliação descrevem a </a:t>
            </a:r>
            <a:r>
              <a:rPr lang="pt-BR" b="1" dirty="0"/>
              <a:t>lacuna</a:t>
            </a:r>
            <a:r>
              <a:rPr lang="pt-BR" dirty="0"/>
              <a:t> que existe entre o </a:t>
            </a:r>
            <a:r>
              <a:rPr lang="pt-BR" b="1" dirty="0"/>
              <a:t>usuário</a:t>
            </a:r>
            <a:r>
              <a:rPr lang="pt-BR" dirty="0"/>
              <a:t> e a </a:t>
            </a:r>
            <a:r>
              <a:rPr lang="pt-BR" b="1" dirty="0"/>
              <a:t>interface</a:t>
            </a:r>
            <a:r>
              <a:rPr lang="pt-BR" dirty="0"/>
              <a:t>.</a:t>
            </a:r>
          </a:p>
          <a:p>
            <a:pPr lvl="0"/>
            <a:r>
              <a:rPr lang="pt-BR" dirty="0"/>
              <a:t>O objetivo dos golfos é mostrar </a:t>
            </a:r>
            <a:r>
              <a:rPr lang="pt-BR" b="1" dirty="0"/>
              <a:t>como projetar </a:t>
            </a:r>
            <a:r>
              <a:rPr lang="pt-BR" dirty="0"/>
              <a:t>a interface para </a:t>
            </a:r>
            <a:r>
              <a:rPr lang="pt-BR" b="1" dirty="0"/>
              <a:t>habilitar</a:t>
            </a:r>
            <a:r>
              <a:rPr lang="pt-BR" dirty="0"/>
              <a:t> o usuário a lidar com eles.</a:t>
            </a:r>
          </a:p>
          <a:p>
            <a:r>
              <a:rPr lang="pt-BR" dirty="0"/>
              <a:t>Os golfos podem ser </a:t>
            </a:r>
            <a:r>
              <a:rPr lang="pt-BR" b="1" dirty="0"/>
              <a:t>reduzidos</a:t>
            </a:r>
            <a:r>
              <a:rPr lang="pt-BR" dirty="0"/>
              <a:t> através de um </a:t>
            </a:r>
            <a:r>
              <a:rPr lang="pt-BR" b="1" dirty="0"/>
              <a:t>projeto adequado </a:t>
            </a:r>
            <a:r>
              <a:rPr lang="pt-BR" dirty="0"/>
              <a:t>do sistema ou através de </a:t>
            </a:r>
            <a:r>
              <a:rPr lang="pt-BR" b="1" dirty="0"/>
              <a:t>treinamento</a:t>
            </a:r>
            <a:r>
              <a:rPr lang="pt-BR" dirty="0"/>
              <a:t> e </a:t>
            </a:r>
            <a:r>
              <a:rPr lang="pt-BR" b="1" dirty="0"/>
              <a:t>esforço mental </a:t>
            </a:r>
            <a:r>
              <a:rPr lang="pt-BR" dirty="0"/>
              <a:t>por parte dos usuários.</a:t>
            </a:r>
          </a:p>
          <a:p>
            <a:r>
              <a:rPr lang="pt-BR" dirty="0"/>
              <a:t>Tarefa do </a:t>
            </a:r>
            <a:r>
              <a:rPr lang="pt-BR" b="1" dirty="0"/>
              <a:t>designer</a:t>
            </a:r>
          </a:p>
          <a:p>
            <a:pPr lvl="1"/>
            <a:r>
              <a:rPr lang="pt-BR" dirty="0"/>
              <a:t>Tentar diminuir o tamanho dos golfos de execução e de avaliação </a:t>
            </a:r>
            <a:r>
              <a:rPr lang="pt-BR" dirty="0">
                <a:sym typeface="Wingdings" panose="05000000000000000000" pitchFamily="2" charset="2"/>
              </a:rPr>
              <a:t> redução dos problemas durante a interação</a:t>
            </a:r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955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Distâncias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pt-BR" dirty="0"/>
              <a:t>A engenharia cognitiva define a noção de </a:t>
            </a:r>
            <a:r>
              <a:rPr lang="pt-BR" b="1" dirty="0"/>
              <a:t>distância</a:t>
            </a:r>
            <a:r>
              <a:rPr lang="pt-BR" dirty="0"/>
              <a:t> entre os </a:t>
            </a:r>
            <a:r>
              <a:rPr lang="pt-BR" b="1" dirty="0"/>
              <a:t>pensamentos</a:t>
            </a:r>
            <a:r>
              <a:rPr lang="pt-BR" dirty="0"/>
              <a:t> do </a:t>
            </a:r>
            <a:r>
              <a:rPr lang="pt-BR" b="1" dirty="0"/>
              <a:t>usuário</a:t>
            </a:r>
            <a:r>
              <a:rPr lang="pt-BR" dirty="0"/>
              <a:t> e os requisitos </a:t>
            </a:r>
            <a:r>
              <a:rPr lang="pt-BR" b="1" dirty="0"/>
              <a:t>físicos</a:t>
            </a:r>
            <a:r>
              <a:rPr lang="pt-BR" dirty="0"/>
              <a:t> do </a:t>
            </a:r>
            <a:r>
              <a:rPr lang="pt-BR" b="1" dirty="0"/>
              <a:t>sistema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Relação entre a </a:t>
            </a:r>
            <a:r>
              <a:rPr lang="pt-BR" b="1" dirty="0"/>
              <a:t>tarefa</a:t>
            </a:r>
            <a:r>
              <a:rPr lang="pt-BR" dirty="0"/>
              <a:t> que o usuário tem </a:t>
            </a:r>
            <a:r>
              <a:rPr lang="pt-BR" b="1" dirty="0"/>
              <a:t>em mente </a:t>
            </a:r>
            <a:r>
              <a:rPr lang="pt-BR" dirty="0"/>
              <a:t>e a forma que a </a:t>
            </a:r>
            <a:r>
              <a:rPr lang="pt-BR" b="1" dirty="0"/>
              <a:t>tarefa</a:t>
            </a:r>
            <a:r>
              <a:rPr lang="pt-BR" dirty="0"/>
              <a:t> pode ser </a:t>
            </a:r>
            <a:r>
              <a:rPr lang="pt-BR" b="1" dirty="0"/>
              <a:t>realizada</a:t>
            </a:r>
            <a:r>
              <a:rPr lang="pt-BR" dirty="0"/>
              <a:t> através da </a:t>
            </a:r>
            <a:r>
              <a:rPr lang="pt-BR" b="1" dirty="0"/>
              <a:t>interface</a:t>
            </a:r>
            <a:r>
              <a:rPr lang="pt-BR" dirty="0"/>
              <a:t>.</a:t>
            </a:r>
          </a:p>
          <a:p>
            <a:pPr lvl="0"/>
            <a:r>
              <a:rPr lang="pt-BR" dirty="0"/>
              <a:t>Distância </a:t>
            </a:r>
            <a:r>
              <a:rPr lang="pt-BR" b="1" dirty="0"/>
              <a:t>pequena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/>
              <a:t>tradução</a:t>
            </a:r>
            <a:r>
              <a:rPr lang="pt-BR" dirty="0"/>
              <a:t> simples e direta</a:t>
            </a:r>
          </a:p>
          <a:p>
            <a:pPr lvl="1"/>
            <a:r>
              <a:rPr lang="pt-BR" dirty="0"/>
              <a:t>Os </a:t>
            </a:r>
            <a:r>
              <a:rPr lang="pt-BR" b="1" dirty="0"/>
              <a:t>pensamentos</a:t>
            </a:r>
            <a:r>
              <a:rPr lang="pt-BR" dirty="0"/>
              <a:t> do usuário são prontamente </a:t>
            </a:r>
            <a:r>
              <a:rPr lang="pt-BR" b="1" dirty="0"/>
              <a:t>traduzidos</a:t>
            </a:r>
            <a:r>
              <a:rPr lang="pt-BR" dirty="0"/>
              <a:t> em </a:t>
            </a:r>
            <a:r>
              <a:rPr lang="pt-BR" b="1" dirty="0"/>
              <a:t>ações físicas </a:t>
            </a:r>
            <a:r>
              <a:rPr lang="pt-BR" dirty="0"/>
              <a:t>exigidas pelo sistema</a:t>
            </a:r>
          </a:p>
          <a:p>
            <a:pPr lvl="1"/>
            <a:r>
              <a:rPr lang="pt-BR" dirty="0"/>
              <a:t>A </a:t>
            </a:r>
            <a:r>
              <a:rPr lang="pt-BR" b="1" dirty="0"/>
              <a:t>saída</a:t>
            </a:r>
            <a:r>
              <a:rPr lang="pt-BR" dirty="0"/>
              <a:t> do sistema é prontamente </a:t>
            </a:r>
            <a:r>
              <a:rPr lang="pt-BR" b="1" dirty="0"/>
              <a:t>interpretada</a:t>
            </a:r>
            <a:r>
              <a:rPr lang="pt-BR" dirty="0"/>
              <a:t> em termos de </a:t>
            </a:r>
            <a:r>
              <a:rPr lang="pt-BR" b="1" dirty="0"/>
              <a:t>objetivos</a:t>
            </a:r>
            <a:r>
              <a:rPr lang="pt-BR" dirty="0"/>
              <a:t> de interesse para o </a:t>
            </a:r>
            <a:r>
              <a:rPr lang="pt-BR" b="1" dirty="0"/>
              <a:t>usuário</a:t>
            </a:r>
            <a:r>
              <a:rPr lang="pt-BR" dirty="0"/>
              <a:t>.</a:t>
            </a:r>
          </a:p>
          <a:p>
            <a:pPr lvl="0"/>
            <a:r>
              <a:rPr lang="pt-BR" dirty="0"/>
              <a:t>As noções de distância semântica e articulatória foram propostas como uma </a:t>
            </a:r>
            <a:r>
              <a:rPr lang="pt-BR" b="1" dirty="0"/>
              <a:t>forma de medir </a:t>
            </a:r>
            <a:r>
              <a:rPr lang="pt-BR" dirty="0"/>
              <a:t>a </a:t>
            </a:r>
            <a:r>
              <a:rPr lang="pt-BR" b="1" dirty="0"/>
              <a:t>carga cognitiva </a:t>
            </a:r>
            <a:r>
              <a:rPr lang="pt-BR" dirty="0"/>
              <a:t>imposta aos usuários pelas linguagens de interface.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58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Distância semântica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600" dirty="0"/>
              <a:t>Distância </a:t>
            </a:r>
            <a:r>
              <a:rPr lang="pt-BR" sz="2600" b="1" dirty="0"/>
              <a:t>subjetiva</a:t>
            </a:r>
            <a:r>
              <a:rPr lang="pt-BR" sz="2600" dirty="0"/>
              <a:t> entre os </a:t>
            </a:r>
            <a:r>
              <a:rPr lang="pt-BR" sz="2600" b="1" dirty="0"/>
              <a:t>objetivos</a:t>
            </a:r>
            <a:r>
              <a:rPr lang="pt-BR" sz="2600" dirty="0"/>
              <a:t> do usuário e a </a:t>
            </a:r>
            <a:r>
              <a:rPr lang="pt-BR" sz="2600" b="1" dirty="0"/>
              <a:t>semântica</a:t>
            </a:r>
            <a:r>
              <a:rPr lang="pt-BR" sz="2600" dirty="0"/>
              <a:t> da interface. </a:t>
            </a:r>
          </a:p>
          <a:p>
            <a:r>
              <a:rPr lang="pt-BR" sz="2600" dirty="0"/>
              <a:t>Reflete a </a:t>
            </a:r>
            <a:r>
              <a:rPr lang="pt-BR" sz="2600" b="1" dirty="0"/>
              <a:t>relação</a:t>
            </a:r>
            <a:r>
              <a:rPr lang="pt-BR" sz="2600" dirty="0"/>
              <a:t> entre as </a:t>
            </a:r>
            <a:r>
              <a:rPr lang="pt-BR" sz="2600" b="1" dirty="0"/>
              <a:t>intenções</a:t>
            </a:r>
            <a:r>
              <a:rPr lang="pt-BR" sz="2600" dirty="0"/>
              <a:t> do usuário e o </a:t>
            </a:r>
            <a:r>
              <a:rPr lang="pt-BR" sz="2600" b="1" dirty="0"/>
              <a:t>significado</a:t>
            </a:r>
            <a:r>
              <a:rPr lang="pt-BR" sz="2600" dirty="0"/>
              <a:t> das expressões nas linguagens de </a:t>
            </a:r>
            <a:r>
              <a:rPr lang="pt-BR" sz="2600" b="1" dirty="0"/>
              <a:t>interface</a:t>
            </a:r>
            <a:r>
              <a:rPr lang="pt-BR" sz="2600" dirty="0"/>
              <a:t> tanto para </a:t>
            </a:r>
            <a:r>
              <a:rPr lang="pt-BR" sz="2600" b="1" dirty="0"/>
              <a:t>entrada</a:t>
            </a:r>
            <a:r>
              <a:rPr lang="pt-BR" sz="2600" dirty="0"/>
              <a:t> quanto para </a:t>
            </a:r>
            <a:r>
              <a:rPr lang="pt-BR" sz="2600" b="1" dirty="0"/>
              <a:t>saída</a:t>
            </a:r>
            <a:r>
              <a:rPr lang="pt-BR" sz="2600" dirty="0"/>
              <a:t>. </a:t>
            </a:r>
          </a:p>
          <a:p>
            <a:r>
              <a:rPr lang="pt-BR" sz="2600" dirty="0"/>
              <a:t>É a distância entre o que o usuário </a:t>
            </a:r>
            <a:r>
              <a:rPr lang="pt-BR" sz="2600" b="1" dirty="0"/>
              <a:t>gostaria de dizer </a:t>
            </a:r>
            <a:r>
              <a:rPr lang="pt-BR" sz="2600" dirty="0"/>
              <a:t>na linguagem de interface e o </a:t>
            </a:r>
            <a:r>
              <a:rPr lang="pt-BR" sz="2600" b="1" dirty="0"/>
              <a:t>significado disponível</a:t>
            </a:r>
            <a:r>
              <a:rPr lang="pt-BR" sz="2600" dirty="0"/>
              <a:t> pelos elementos da linguagem</a:t>
            </a:r>
          </a:p>
          <a:p>
            <a:pPr lvl="1"/>
            <a:r>
              <a:rPr lang="pt-BR" dirty="0"/>
              <a:t>É possível dizer o que se quer nesta linguagem?</a:t>
            </a:r>
          </a:p>
          <a:p>
            <a:pPr lvl="1"/>
            <a:r>
              <a:rPr lang="pt-BR" dirty="0"/>
              <a:t>É possível dizer o que se quer de forma concisa?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2460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Distância semântica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/>
            <a:r>
              <a:rPr lang="pt-BR" sz="2800" dirty="0"/>
              <a:t>A distância semântica </a:t>
            </a:r>
            <a:r>
              <a:rPr lang="pt-BR" sz="2800" b="1" dirty="0"/>
              <a:t>avalia</a:t>
            </a:r>
            <a:r>
              <a:rPr lang="pt-BR" sz="2800" dirty="0"/>
              <a:t> a </a:t>
            </a:r>
            <a:r>
              <a:rPr lang="pt-BR" sz="2800" b="1" dirty="0"/>
              <a:t>separação</a:t>
            </a:r>
            <a:r>
              <a:rPr lang="pt-BR" sz="2800" dirty="0"/>
              <a:t> entre as metas / </a:t>
            </a:r>
            <a:r>
              <a:rPr lang="pt-BR" sz="2800" b="1" dirty="0"/>
              <a:t>tarefas</a:t>
            </a:r>
            <a:r>
              <a:rPr lang="pt-BR" sz="2800" dirty="0"/>
              <a:t> do </a:t>
            </a:r>
            <a:r>
              <a:rPr lang="pt-BR" sz="2800" b="1" dirty="0"/>
              <a:t>usuário</a:t>
            </a:r>
            <a:r>
              <a:rPr lang="pt-BR" sz="2800" dirty="0"/>
              <a:t> e a </a:t>
            </a:r>
            <a:r>
              <a:rPr lang="pt-BR" sz="2800" b="1" dirty="0"/>
              <a:t>funcionalidade</a:t>
            </a:r>
            <a:r>
              <a:rPr lang="pt-BR" sz="2800" dirty="0"/>
              <a:t> do </a:t>
            </a:r>
            <a:r>
              <a:rPr lang="pt-BR" sz="2800" b="1" dirty="0"/>
              <a:t>sistema</a:t>
            </a:r>
            <a:r>
              <a:rPr lang="pt-BR" sz="2800" dirty="0"/>
              <a:t> a elas associada</a:t>
            </a:r>
          </a:p>
          <a:p>
            <a:pPr marL="617220" lvl="2"/>
            <a:r>
              <a:rPr lang="pt-BR" sz="2400" dirty="0"/>
              <a:t>Se </a:t>
            </a:r>
            <a:r>
              <a:rPr lang="pt-BR" sz="2400" b="1" dirty="0"/>
              <a:t>existe um comando </a:t>
            </a:r>
            <a:r>
              <a:rPr lang="pt-BR" sz="2400" dirty="0"/>
              <a:t>no modelo de interação cujo significado (resultado ou efeito) seja aquele pretendido pelo usuário. </a:t>
            </a:r>
          </a:p>
          <a:p>
            <a:pPr marL="342900" lvl="1"/>
            <a:r>
              <a:rPr lang="pt-BR" sz="2800" dirty="0"/>
              <a:t>Uma distância </a:t>
            </a:r>
            <a:r>
              <a:rPr lang="pt-BR" sz="2800" b="1" dirty="0"/>
              <a:t>pequena</a:t>
            </a:r>
            <a:r>
              <a:rPr lang="pt-BR" sz="2800" dirty="0"/>
              <a:t> significa que existe um comando (quase que) </a:t>
            </a:r>
            <a:r>
              <a:rPr lang="pt-BR" sz="2800" b="1" dirty="0"/>
              <a:t>diretamente</a:t>
            </a:r>
            <a:r>
              <a:rPr lang="pt-BR" sz="2800" dirty="0"/>
              <a:t> associado à meta.</a:t>
            </a:r>
          </a:p>
          <a:p>
            <a:pPr marL="342900" lvl="1"/>
            <a:r>
              <a:rPr lang="pt-BR" sz="2800" dirty="0"/>
              <a:t>Uma distância </a:t>
            </a:r>
            <a:r>
              <a:rPr lang="pt-BR" sz="2800" b="1" dirty="0"/>
              <a:t>grande</a:t>
            </a:r>
            <a:r>
              <a:rPr lang="pt-BR" sz="2800" dirty="0"/>
              <a:t> indica que o usuário precisa </a:t>
            </a:r>
            <a:r>
              <a:rPr lang="pt-BR" sz="2800" b="1" dirty="0"/>
              <a:t>quebrar metas </a:t>
            </a:r>
            <a:r>
              <a:rPr lang="pt-BR" sz="2800" dirty="0"/>
              <a:t>em submetas e realizar um planejamento de tarefas.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722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Distância articulatória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Distância entre os </a:t>
            </a:r>
            <a:r>
              <a:rPr lang="pt-BR" b="1" dirty="0"/>
              <a:t>significados das ações </a:t>
            </a:r>
            <a:r>
              <a:rPr lang="pt-BR" dirty="0"/>
              <a:t>e suas </a:t>
            </a:r>
            <a:r>
              <a:rPr lang="pt-BR" b="1" dirty="0"/>
              <a:t>formas físicas</a:t>
            </a:r>
            <a:r>
              <a:rPr lang="pt-BR" sz="2600" dirty="0"/>
              <a:t>. </a:t>
            </a:r>
          </a:p>
          <a:p>
            <a:r>
              <a:rPr lang="pt-BR" dirty="0"/>
              <a:t>Reflete a </a:t>
            </a:r>
            <a:r>
              <a:rPr lang="pt-BR" b="1" dirty="0"/>
              <a:t>relação</a:t>
            </a:r>
            <a:r>
              <a:rPr lang="pt-BR" dirty="0"/>
              <a:t> entre a </a:t>
            </a:r>
            <a:r>
              <a:rPr lang="pt-BR" b="1" dirty="0"/>
              <a:t>forma física </a:t>
            </a:r>
            <a:r>
              <a:rPr lang="pt-BR" dirty="0"/>
              <a:t>de uma expressão na linguagem da interação e o seu </a:t>
            </a:r>
            <a:r>
              <a:rPr lang="pt-BR" b="1" dirty="0"/>
              <a:t>significado</a:t>
            </a:r>
            <a:r>
              <a:rPr lang="pt-BR" dirty="0"/>
              <a:t>, tanto para </a:t>
            </a:r>
            <a:r>
              <a:rPr lang="pt-BR" b="1" dirty="0"/>
              <a:t>entrada</a:t>
            </a:r>
            <a:r>
              <a:rPr lang="pt-BR" dirty="0"/>
              <a:t> quanto para </a:t>
            </a:r>
            <a:r>
              <a:rPr lang="pt-BR" b="1" dirty="0"/>
              <a:t>saída</a:t>
            </a:r>
            <a:r>
              <a:rPr lang="pt-BR" sz="2600" dirty="0"/>
              <a:t>. </a:t>
            </a:r>
          </a:p>
          <a:p>
            <a:r>
              <a:rPr lang="pt-BR" sz="2600" dirty="0"/>
              <a:t>É a distância entre o </a:t>
            </a:r>
            <a:r>
              <a:rPr lang="pt-BR" sz="2600" b="1" dirty="0"/>
              <a:t>significado</a:t>
            </a:r>
            <a:r>
              <a:rPr lang="pt-BR" sz="2600" dirty="0"/>
              <a:t> e a </a:t>
            </a:r>
            <a:r>
              <a:rPr lang="pt-BR" sz="2600" b="1" dirty="0"/>
              <a:t>forma</a:t>
            </a:r>
            <a:r>
              <a:rPr lang="pt-BR" sz="2600" dirty="0"/>
              <a:t> dos elementos da linguagem de Interface </a:t>
            </a:r>
          </a:p>
          <a:p>
            <a:pPr lvl="1"/>
            <a:r>
              <a:rPr lang="pt-BR" dirty="0"/>
              <a:t>Quais os obstáculos para </a:t>
            </a:r>
            <a:r>
              <a:rPr lang="pt-BR" b="1" dirty="0"/>
              <a:t>expressar</a:t>
            </a:r>
            <a:r>
              <a:rPr lang="pt-BR" dirty="0"/>
              <a:t> nesta linguagem de interface os </a:t>
            </a:r>
            <a:r>
              <a:rPr lang="pt-BR" b="1" dirty="0"/>
              <a:t>significados</a:t>
            </a:r>
            <a:r>
              <a:rPr lang="pt-BR" dirty="0"/>
              <a:t> daquilo que ela pode processar?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374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Distância articulatória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lvl="1" indent="-261938"/>
            <a:r>
              <a:rPr lang="pt-BR" sz="2800" dirty="0"/>
              <a:t>Enquanto que distância semântica tem a ver com a relação entre as </a:t>
            </a:r>
            <a:r>
              <a:rPr lang="pt-BR" sz="2800" b="1" dirty="0"/>
              <a:t>intenções do usuário </a:t>
            </a:r>
            <a:r>
              <a:rPr lang="pt-BR" sz="2800" dirty="0"/>
              <a:t>e os </a:t>
            </a:r>
            <a:r>
              <a:rPr lang="pt-BR" sz="2800" b="1" dirty="0"/>
              <a:t>significados de expressões</a:t>
            </a:r>
            <a:r>
              <a:rPr lang="pt-BR" sz="2800" dirty="0"/>
              <a:t>, a distância articulatória tem a ver com a relação entre os </a:t>
            </a:r>
            <a:r>
              <a:rPr lang="pt-BR" sz="2800" b="1" dirty="0"/>
              <a:t>significados de expressões </a:t>
            </a:r>
            <a:r>
              <a:rPr lang="pt-BR" sz="2800" dirty="0"/>
              <a:t>e sua </a:t>
            </a:r>
            <a:r>
              <a:rPr lang="pt-BR" sz="2800" b="1" dirty="0"/>
              <a:t>forma física</a:t>
            </a:r>
            <a:r>
              <a:rPr lang="pt-BR" sz="2800" dirty="0"/>
              <a:t>.</a:t>
            </a:r>
          </a:p>
          <a:p>
            <a:pPr marL="261938" lvl="1" indent="-261938"/>
            <a:r>
              <a:rPr lang="pt-BR" sz="2800" dirty="0"/>
              <a:t>A distância articulatória avalia o relacionamento entre o </a:t>
            </a:r>
            <a:r>
              <a:rPr lang="pt-BR" sz="2800" b="1" dirty="0"/>
              <a:t>significado</a:t>
            </a:r>
            <a:r>
              <a:rPr lang="pt-BR" sz="2800" dirty="0"/>
              <a:t> (resultado ou efeito) de um comando e a </a:t>
            </a:r>
            <a:r>
              <a:rPr lang="pt-BR" sz="2800" b="1" dirty="0"/>
              <a:t>forma</a:t>
            </a:r>
            <a:r>
              <a:rPr lang="pt-BR" sz="2800" dirty="0"/>
              <a:t> da sequência de ações (o comando) tal como se disponibiliza para o usuário. 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694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Espaço Reservado para Conteúdo 9" descr="Uma imagem contendo texto, mapa&#10;&#10;Descrição gerada com muito alta confiança">
            <a:extLst>
              <a:ext uri="{FF2B5EF4-FFF2-40B4-BE49-F238E27FC236}">
                <a16:creationId xmlns:a16="http://schemas.microsoft.com/office/drawing/2014/main" id="{D1ABD500-1A45-477F-9F60-81C96033D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16" y="260648"/>
            <a:ext cx="7495987" cy="6460827"/>
          </a:xfr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999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Percurso cognitivo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146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Percurso Cognitivo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Método de avaliação de IHC cujo principal objetivo é avaliar a </a:t>
            </a:r>
            <a:r>
              <a:rPr lang="pt-BR" b="1" dirty="0"/>
              <a:t>facilidade de aprendizado </a:t>
            </a:r>
            <a:r>
              <a:rPr lang="pt-BR" dirty="0"/>
              <a:t>de um sistema interativo, através da exploração da sua interface </a:t>
            </a:r>
          </a:p>
          <a:p>
            <a:r>
              <a:rPr lang="pt-BR" dirty="0"/>
              <a:t>Motivado pela preferência de muitas pessoas em “</a:t>
            </a:r>
            <a:r>
              <a:rPr lang="pt-BR" b="1" dirty="0"/>
              <a:t>aprenderem fazendo</a:t>
            </a:r>
            <a:r>
              <a:rPr lang="pt-BR" dirty="0"/>
              <a:t>”, em vez de aprenderem através de treinamentos, leitura de manuais, etc.</a:t>
            </a:r>
          </a:p>
          <a:p>
            <a:r>
              <a:rPr lang="pt-BR" dirty="0"/>
              <a:t>O percurso cognitivo guia a inspeção da interface pelas tarefas do usuário</a:t>
            </a:r>
          </a:p>
          <a:p>
            <a:r>
              <a:rPr lang="pt-BR" dirty="0"/>
              <a:t>Para cada ação, o avaliador tenta se colocar no papel de um usuário e detalha como seria sua interação com o sistema naquele momento</a:t>
            </a:r>
          </a:p>
          <a:p>
            <a:r>
              <a:rPr lang="pt-BR" dirty="0"/>
              <a:t>O avaliador inspeciona a interface e </a:t>
            </a:r>
            <a:r>
              <a:rPr lang="pt-BR" b="1" dirty="0"/>
              <a:t>formula hipóteses </a:t>
            </a:r>
            <a:r>
              <a:rPr lang="pt-BR" dirty="0"/>
              <a:t>sobre o sucesso ou o insucesso da interação a cada passo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882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Percurso Cognitivo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avaliador avalia o processo de interação segundo a visão da </a:t>
            </a:r>
            <a:r>
              <a:rPr lang="pt-BR" b="1" dirty="0"/>
              <a:t>engenharia cognitiva</a:t>
            </a:r>
          </a:p>
          <a:p>
            <a:r>
              <a:rPr lang="pt-BR" dirty="0"/>
              <a:t>O percurso cognitivo pode ser realizado por </a:t>
            </a:r>
            <a:r>
              <a:rPr lang="pt-BR" b="1" dirty="0"/>
              <a:t>um ou mais </a:t>
            </a:r>
            <a:r>
              <a:rPr lang="pt-BR" dirty="0"/>
              <a:t>avaliadores</a:t>
            </a:r>
          </a:p>
          <a:p>
            <a:pPr lvl="1"/>
            <a:r>
              <a:rPr lang="pt-BR" dirty="0"/>
              <a:t>Quando há mais de um avaliador, eles devem realizar as atividades em conjunto</a:t>
            </a:r>
          </a:p>
          <a:p>
            <a:r>
              <a:rPr lang="pt-BR" dirty="0"/>
              <a:t>Caso uma mesma tarefa precise ser realizada por usuários de diferentes perfis, a avaliação deve ser realizada </a:t>
            </a:r>
            <a:r>
              <a:rPr lang="pt-BR" b="1" dirty="0"/>
              <a:t>para cada perfil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674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29</a:t>
            </a:fld>
            <a:endParaRPr lang="pt-B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188640"/>
            <a:ext cx="7056784" cy="6532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8161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usuário tentaria atingir o efeito correto? A formulação da intenção do usuário seria a esperada?</a:t>
            </a:r>
          </a:p>
          <a:p>
            <a:pPr lvl="1"/>
            <a:r>
              <a:rPr lang="pt-BR" dirty="0"/>
              <a:t>Um usuário tem mais chance de formular a intenção correta se: </a:t>
            </a:r>
          </a:p>
          <a:p>
            <a:pPr lvl="2"/>
            <a:r>
              <a:rPr lang="pt-BR" dirty="0"/>
              <a:t>a ação faz parte da tarefa tal como concebida pelo usuário; </a:t>
            </a:r>
          </a:p>
          <a:p>
            <a:pPr lvl="2"/>
            <a:r>
              <a:rPr lang="pt-BR" dirty="0"/>
              <a:t>o usuário tem experiência no sistema (ou semelhante); </a:t>
            </a:r>
          </a:p>
          <a:p>
            <a:pPr lvl="2"/>
            <a:r>
              <a:rPr lang="pt-BR" dirty="0"/>
              <a:t>o sistema fornece uma instrução ou solicita que o usuário realize a ação</a:t>
            </a:r>
          </a:p>
          <a:p>
            <a:r>
              <a:rPr lang="pt-BR" dirty="0"/>
              <a:t>O usuário perceberia que a ação correta está disponível?</a:t>
            </a:r>
          </a:p>
          <a:p>
            <a:pPr lvl="1"/>
            <a:r>
              <a:rPr lang="pt-BR" dirty="0"/>
              <a:t>Ele normalmente sabe que a opção está disponível se:</a:t>
            </a:r>
          </a:p>
          <a:p>
            <a:pPr lvl="2"/>
            <a:r>
              <a:rPr lang="pt-BR" dirty="0"/>
              <a:t>Tem experiência no sistema (ou semelhante)</a:t>
            </a:r>
          </a:p>
          <a:p>
            <a:pPr lvl="2"/>
            <a:r>
              <a:rPr lang="pt-BR" dirty="0"/>
              <a:t>Percebe na interface uma representação da ação desejada</a:t>
            </a:r>
          </a:p>
          <a:p>
            <a:pPr lvl="2"/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920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usuário conseguiria associar a ação correta com o efeito que está tentando atingir?</a:t>
            </a:r>
          </a:p>
          <a:p>
            <a:pPr lvl="1"/>
            <a:r>
              <a:rPr lang="pt-BR" dirty="0"/>
              <a:t>Ele costuma saber qual ação é adequada se:</a:t>
            </a:r>
          </a:p>
          <a:p>
            <a:pPr lvl="2"/>
            <a:r>
              <a:rPr lang="pt-BR" dirty="0"/>
              <a:t>Tem experiência no sistema (ou semelhante)</a:t>
            </a:r>
          </a:p>
          <a:p>
            <a:pPr lvl="2"/>
            <a:r>
              <a:rPr lang="pt-BR" dirty="0"/>
              <a:t>A interface comunica essa associação entre a ação e o efeito esperado</a:t>
            </a:r>
          </a:p>
          <a:p>
            <a:pPr lvl="2"/>
            <a:r>
              <a:rPr lang="pt-BR" dirty="0"/>
              <a:t>Nenhuma outra ação parece adequada (por eliminação)</a:t>
            </a:r>
          </a:p>
          <a:p>
            <a:r>
              <a:rPr lang="pt-BR" dirty="0"/>
              <a:t>Se a ação correta for realizada, o usuário perceberia que está progredindo para concluir a tarefa?</a:t>
            </a:r>
          </a:p>
          <a:p>
            <a:pPr lvl="1"/>
            <a:r>
              <a:rPr lang="pt-BR" dirty="0"/>
              <a:t>Ele sabe que está avançando se:</a:t>
            </a:r>
          </a:p>
          <a:p>
            <a:pPr lvl="2"/>
            <a:r>
              <a:rPr lang="pt-BR" dirty="0"/>
              <a:t>Tem experiência no sistema (ou semelhante)</a:t>
            </a:r>
          </a:p>
          <a:p>
            <a:pPr lvl="2"/>
            <a:r>
              <a:rPr lang="pt-BR" dirty="0"/>
              <a:t>As respostas do sistema estão de acordo com o efeito esperado</a:t>
            </a:r>
          </a:p>
          <a:p>
            <a:endParaRPr lang="pt-BR" dirty="0"/>
          </a:p>
          <a:p>
            <a:endParaRPr lang="pt-BR" dirty="0"/>
          </a:p>
          <a:p>
            <a:pPr lvl="2"/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222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32</a:t>
            </a:fld>
            <a:endParaRPr lang="pt-BR"/>
          </a:p>
        </p:txBody>
      </p:sp>
      <p:pic>
        <p:nvPicPr>
          <p:cNvPr id="7" name="Espaço Reservado para Conteúdo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6" r="20684"/>
          <a:stretch/>
        </p:blipFill>
        <p:spPr>
          <a:xfrm>
            <a:off x="3791744" y="188640"/>
            <a:ext cx="5040560" cy="6813376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343472" y="1340768"/>
            <a:ext cx="2340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600" dirty="0"/>
              <a:t>O usuário tentaria atingir o efeito correto? </a:t>
            </a:r>
          </a:p>
          <a:p>
            <a:pPr algn="r"/>
            <a:r>
              <a:rPr lang="pt-BR" sz="1400" dirty="0">
                <a:solidFill>
                  <a:srgbClr val="FF0000"/>
                </a:solidFill>
              </a:rPr>
              <a:t>(Qual a dificuldade de passar da intenção para o plano?)</a:t>
            </a:r>
          </a:p>
        </p:txBody>
      </p:sp>
      <p:sp>
        <p:nvSpPr>
          <p:cNvPr id="9" name="Retângulo 8"/>
          <p:cNvSpPr/>
          <p:nvPr/>
        </p:nvSpPr>
        <p:spPr>
          <a:xfrm>
            <a:off x="1344931" y="3212976"/>
            <a:ext cx="23400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600" dirty="0"/>
              <a:t>O usuário perceberia que a ação correta está disponível?</a:t>
            </a:r>
          </a:p>
          <a:p>
            <a:pPr algn="r"/>
            <a:r>
              <a:rPr lang="pt-BR" sz="1400" dirty="0">
                <a:solidFill>
                  <a:srgbClr val="FF0000"/>
                </a:solidFill>
              </a:rPr>
              <a:t>(Qual a dificuldade de passar do plano à ação?)</a:t>
            </a:r>
          </a:p>
        </p:txBody>
      </p:sp>
      <p:sp>
        <p:nvSpPr>
          <p:cNvPr id="10" name="Retângulo 9"/>
          <p:cNvSpPr/>
          <p:nvPr/>
        </p:nvSpPr>
        <p:spPr>
          <a:xfrm>
            <a:off x="8976320" y="3212976"/>
            <a:ext cx="23400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O usuário conseguiria associar a ação correta com o efeito que está tentando atingir?</a:t>
            </a:r>
          </a:p>
          <a:p>
            <a:r>
              <a:rPr lang="pt-BR" sz="1400" dirty="0">
                <a:solidFill>
                  <a:srgbClr val="FF0000"/>
                </a:solidFill>
              </a:rPr>
              <a:t>(Qual a dificuldade de perceber o feedback?)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8971746" y="1340768"/>
            <a:ext cx="2340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O usuário perceberia que está progredindo para concluir a tarefa?</a:t>
            </a:r>
          </a:p>
          <a:p>
            <a:r>
              <a:rPr lang="pt-BR" sz="1400" dirty="0">
                <a:solidFill>
                  <a:srgbClr val="FF0000"/>
                </a:solidFill>
              </a:rPr>
              <a:t>(Qual a dificuldade de compreender o feedback?)</a:t>
            </a:r>
          </a:p>
        </p:txBody>
      </p:sp>
    </p:spTree>
    <p:extLst>
      <p:ext uri="{BB962C8B-B14F-4D97-AF65-F5344CB8AC3E}">
        <p14:creationId xmlns:p14="http://schemas.microsoft.com/office/powerpoint/2010/main" val="2371757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Coleta e interpretação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avaliador deve relatar histórias de </a:t>
            </a:r>
            <a:r>
              <a:rPr lang="pt-BR" b="1" dirty="0"/>
              <a:t>sucesso</a:t>
            </a:r>
            <a:r>
              <a:rPr lang="pt-BR" dirty="0"/>
              <a:t> ou de </a:t>
            </a:r>
            <a:r>
              <a:rPr lang="pt-BR" b="1" dirty="0"/>
              <a:t>insucesso</a:t>
            </a:r>
            <a:r>
              <a:rPr lang="pt-BR" dirty="0"/>
              <a:t> ao responder essas perguntas</a:t>
            </a:r>
          </a:p>
          <a:p>
            <a:r>
              <a:rPr lang="pt-BR" b="1" dirty="0"/>
              <a:t>Todas</a:t>
            </a:r>
            <a:r>
              <a:rPr lang="pt-BR" dirty="0"/>
              <a:t> as perguntas devem ser respondidas para cada ação</a:t>
            </a:r>
          </a:p>
          <a:p>
            <a:r>
              <a:rPr lang="pt-BR" dirty="0"/>
              <a:t>Mesmo que a resposta a uma pergunta seja negativa, o avaliador deve, após registrar seu relato de insucesso, </a:t>
            </a:r>
            <a:r>
              <a:rPr lang="pt-BR" b="1" dirty="0"/>
              <a:t>supor</a:t>
            </a:r>
            <a:r>
              <a:rPr lang="pt-BR" dirty="0"/>
              <a:t> que a resposta poderia ser </a:t>
            </a:r>
            <a:r>
              <a:rPr lang="pt-BR" b="1" dirty="0"/>
              <a:t>positiva</a:t>
            </a:r>
            <a:r>
              <a:rPr lang="pt-BR" dirty="0"/>
              <a:t> e então prosseguir respondendo à pergunta seguinte, até que todas as perguntas tenham sido respondidas para aquela ação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084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Tarefa: votar nulo na urna eletrônica</a:t>
            </a:r>
          </a:p>
          <a:p>
            <a:r>
              <a:rPr lang="pt-BR" dirty="0"/>
              <a:t>Usuário: eleitor insatisfeito com os candidatos à eleição</a:t>
            </a:r>
          </a:p>
          <a:p>
            <a:r>
              <a:rPr lang="pt-BR" dirty="0"/>
              <a:t>Cenário: o eleitor vai votar pela primeira vez, mas como não gostou de nenhuma das propostas dos candidatos, está decidido a anular o seu voto</a:t>
            </a:r>
          </a:p>
          <a:p>
            <a:r>
              <a:rPr lang="pt-BR" dirty="0"/>
              <a:t>Sequência de ações</a:t>
            </a:r>
          </a:p>
          <a:p>
            <a:pPr lvl="1"/>
            <a:r>
              <a:rPr lang="pt-BR" dirty="0"/>
              <a:t>Passo 1 </a:t>
            </a:r>
            <a:r>
              <a:rPr lang="pt-BR" dirty="0">
                <a:sym typeface="Wingdings" panose="05000000000000000000" pitchFamily="2" charset="2"/>
              </a:rPr>
              <a:t> digitar um número inválido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Passo 2  apertar o botão “Confirmar”</a:t>
            </a:r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225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35</a:t>
            </a:fld>
            <a:endParaRPr lang="pt-BR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7" t="8352" r="16721" b="5054"/>
          <a:stretch/>
        </p:blipFill>
        <p:spPr bwMode="auto">
          <a:xfrm>
            <a:off x="1166651" y="188640"/>
            <a:ext cx="9460645" cy="62646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7496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digitar um número inválido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usuário tentaria atingir o efeito correto?</a:t>
            </a:r>
          </a:p>
          <a:p>
            <a:r>
              <a:rPr lang="pt-BR" dirty="0"/>
              <a:t>O usuário perceberia que a ação correta está disponível?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887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digitar um número inválido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“Hum, vejamos, onde é que eu anulo meu voto? O botão para votar em branco está ali, mas não quero votar em branco, quero anular meu voto. Talvez se eu tentar digitar o número de algum candidato”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37</a:t>
            </a:fld>
            <a:endParaRPr lang="pt-BR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7" t="8352" r="16721" b="5054"/>
          <a:stretch/>
        </p:blipFill>
        <p:spPr bwMode="auto">
          <a:xfrm>
            <a:off x="3960000" y="2880000"/>
            <a:ext cx="4987252" cy="3302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91434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digitar um número inválido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“Ok, não tem nada para anular aqui também, não quero votar nesse cara, vou corrigir”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38</a:t>
            </a:fld>
            <a:endParaRPr lang="pt-B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6" t="8117" r="16719" b="4892"/>
          <a:stretch/>
        </p:blipFill>
        <p:spPr bwMode="auto">
          <a:xfrm>
            <a:off x="3960000" y="2880000"/>
            <a:ext cx="4996769" cy="3317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805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digitar um número inválido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usuário tentaria atingir o efeito correto? 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Não. É necessário que o usuário tenha um conhecimento prévio de que é preciso digitar um número inválido para anular o voto</a:t>
            </a:r>
          </a:p>
          <a:p>
            <a:r>
              <a:rPr lang="pt-BR" dirty="0"/>
              <a:t>O usuário perceberia que a ação correta está disponível?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Não. Não há qualquer informação sobre como digitar um número inválido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302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digitar um número inválido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“É mesmo, talvez eu precise votar em um número qualquer sem ser os dos candidatos”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40</a:t>
            </a:fld>
            <a:endParaRPr lang="pt-BR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7" t="8352" r="16721" b="5054"/>
          <a:stretch/>
        </p:blipFill>
        <p:spPr bwMode="auto">
          <a:xfrm>
            <a:off x="3960000" y="2880000"/>
            <a:ext cx="4987252" cy="3302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2763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digitar um número inválido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usuário conseguiria associar a ação correta com o efeito que está tentando atingir?</a:t>
            </a:r>
          </a:p>
          <a:p>
            <a:r>
              <a:rPr lang="pt-BR" dirty="0"/>
              <a:t>Se a ação correta for realizada, o usuário perceberia que está progredindo para concluir a tarefa?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651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digitar um número inválido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“Número errado? Eu sei que é errado, mas quero votar nulo. Ah, sim! Está aqui bem grande. Se eu confirmar, devo votar nulo ”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42</a:t>
            </a:fld>
            <a:endParaRPr lang="pt-B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9" t="8651" r="16412" b="5210"/>
          <a:stretch/>
        </p:blipFill>
        <p:spPr bwMode="auto">
          <a:xfrm>
            <a:off x="3960000" y="2880000"/>
            <a:ext cx="5017808" cy="3285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25541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digitar um número inválido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usuário conseguiria associar a ação correta com o efeito que está tentando atingir?</a:t>
            </a:r>
          </a:p>
          <a:p>
            <a:pPr lvl="1"/>
            <a:r>
              <a:rPr lang="pt-BR" dirty="0">
                <a:solidFill>
                  <a:srgbClr val="00B050"/>
                </a:solidFill>
              </a:rPr>
              <a:t>Sim. A mensagem “VOTO NULO” indica isso.</a:t>
            </a:r>
          </a:p>
          <a:p>
            <a:r>
              <a:rPr lang="pt-BR" dirty="0"/>
              <a:t>Se a ação correta for realizada, o usuário perceberia que está progredindo para concluir a tarefa?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Não. A informação “Número errado” pode levar o eleitor a desfazer a ação</a:t>
            </a:r>
          </a:p>
          <a:p>
            <a:pPr lvl="1"/>
            <a:r>
              <a:rPr lang="pt-BR" dirty="0">
                <a:solidFill>
                  <a:srgbClr val="00B050"/>
                </a:solidFill>
              </a:rPr>
              <a:t>Sim. A informação “Voto nulo” ajuda o usuário a interpretar que está no caminho</a:t>
            </a:r>
          </a:p>
          <a:p>
            <a:pPr lvl="1"/>
            <a:endParaRPr lang="pt-BR" dirty="0"/>
          </a:p>
          <a:p>
            <a:endParaRPr lang="pt-BR" dirty="0">
              <a:solidFill>
                <a:srgbClr val="00B050"/>
              </a:solidFill>
            </a:endParaRP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4482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apertar o botão “Confirmar”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usuário tentaria atingir o efeito correto?</a:t>
            </a:r>
          </a:p>
          <a:p>
            <a:r>
              <a:rPr lang="pt-BR" dirty="0"/>
              <a:t>O usuário perceberia que a ação correta está disponível?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3430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apertar o botão “Confirmar”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“Se eu confirmar, devo votar nulo ”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45</a:t>
            </a:fld>
            <a:endParaRPr lang="pt-B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9" t="8651" r="16412" b="5210"/>
          <a:stretch/>
        </p:blipFill>
        <p:spPr bwMode="auto">
          <a:xfrm>
            <a:off x="3960000" y="2880000"/>
            <a:ext cx="5017808" cy="3285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22193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apertar o botão “Confirmar”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usuário tentaria atingir o efeito correto?</a:t>
            </a:r>
          </a:p>
          <a:p>
            <a:pPr lvl="1"/>
            <a:r>
              <a:rPr lang="pt-BR" dirty="0">
                <a:solidFill>
                  <a:srgbClr val="00B050"/>
                </a:solidFill>
              </a:rPr>
              <a:t>Sim. Por eliminação.</a:t>
            </a:r>
          </a:p>
          <a:p>
            <a:r>
              <a:rPr lang="pt-BR" dirty="0"/>
              <a:t>O usuário perceberia que a ação correta está disponível?</a:t>
            </a:r>
          </a:p>
          <a:p>
            <a:pPr lvl="1">
              <a:lnSpc>
                <a:spcPct val="100000"/>
              </a:lnSpc>
            </a:pPr>
            <a:r>
              <a:rPr lang="pt-BR" dirty="0">
                <a:solidFill>
                  <a:srgbClr val="00B050"/>
                </a:solidFill>
              </a:rPr>
              <a:t>Sim. É um dos botões principais.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85910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apertar o botão “Confirmar”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usuário conseguiria associar a ação correta com o efeito que está tentando atingir?</a:t>
            </a:r>
            <a:endParaRPr lang="pt-BR" dirty="0">
              <a:solidFill>
                <a:srgbClr val="00B050"/>
              </a:solidFill>
            </a:endParaRPr>
          </a:p>
          <a:p>
            <a:r>
              <a:rPr lang="pt-BR" dirty="0"/>
              <a:t>Se a ação correta for realizada, o usuário perceberia que está progredindo para concluir a tarefa?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7462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apertar o botão “Confirmar”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“É isso, mas seria mais simples se houvesse um botão para anular, igual tem para votar em branco”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48</a:t>
            </a:fld>
            <a:endParaRPr lang="pt-B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7" t="8791" r="16369" b="5055"/>
          <a:stretch/>
        </p:blipFill>
        <p:spPr bwMode="auto">
          <a:xfrm>
            <a:off x="3960000" y="2880000"/>
            <a:ext cx="4968552" cy="325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7226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apertar o botão “Confirmar”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usuário conseguiria associar a ação correta com o efeito que está tentando atingir?</a:t>
            </a:r>
          </a:p>
          <a:p>
            <a:pPr lvl="1">
              <a:lnSpc>
                <a:spcPct val="110000"/>
              </a:lnSpc>
            </a:pPr>
            <a:r>
              <a:rPr lang="pt-BR" dirty="0">
                <a:solidFill>
                  <a:srgbClr val="00B050"/>
                </a:solidFill>
              </a:rPr>
              <a:t>Sim. “Confirmar” tem o significado de efetivação da ação.</a:t>
            </a:r>
          </a:p>
          <a:p>
            <a:r>
              <a:rPr lang="pt-BR" dirty="0"/>
              <a:t>Se a ação correta for realizada, o usuário perceberia que está progredindo para concluir a tarefa?</a:t>
            </a:r>
          </a:p>
          <a:p>
            <a:pPr lvl="1">
              <a:lnSpc>
                <a:spcPct val="120000"/>
              </a:lnSpc>
            </a:pPr>
            <a:r>
              <a:rPr lang="pt-BR" dirty="0">
                <a:solidFill>
                  <a:srgbClr val="00B050"/>
                </a:solidFill>
              </a:rPr>
              <a:t>Sim. Aparece a mensagem “Fim” grande e “Votou” menor, informando sobre o sucesso da tarefa.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2055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Percurso cognitivo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comparação com a avaliação heurística, essa técnica se concentra mais na identificação de </a:t>
            </a:r>
            <a:r>
              <a:rPr lang="pt-BR" b="1" dirty="0"/>
              <a:t>problemas específicos </a:t>
            </a:r>
            <a:r>
              <a:rPr lang="pt-BR" dirty="0"/>
              <a:t>do usuário </a:t>
            </a:r>
            <a:r>
              <a:rPr lang="pt-BR" b="1" dirty="0"/>
              <a:t>em detalhes</a:t>
            </a:r>
          </a:p>
          <a:p>
            <a:r>
              <a:rPr lang="pt-BR" dirty="0"/>
              <a:t>Tem o foco limitado, que é útil para certos tipos de sistema, mas não para outros</a:t>
            </a:r>
          </a:p>
          <a:p>
            <a:r>
              <a:rPr lang="pt-BR" dirty="0"/>
              <a:t>Pode ser útil principalmente para aplicações que envolvam </a:t>
            </a:r>
            <a:r>
              <a:rPr lang="pt-BR" b="1" dirty="0"/>
              <a:t>operações complexas</a:t>
            </a:r>
          </a:p>
          <a:p>
            <a:r>
              <a:rPr lang="pt-BR" dirty="0"/>
              <a:t>É muito </a:t>
            </a:r>
            <a:r>
              <a:rPr lang="pt-BR" b="1" dirty="0"/>
              <a:t>demorada e trabalhosa </a:t>
            </a:r>
            <a:r>
              <a:rPr lang="pt-BR" dirty="0"/>
              <a:t>e os avaliadores precisam conhecer bem os processos cognitivos envolvidos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8724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pic>
        <p:nvPicPr>
          <p:cNvPr id="10" name="Picture 4" descr="http://www.grupoa.com.br/uploads/imagensTitulo/20130314102513_ROGERS_Design_Interacao_3ed_G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1658499"/>
            <a:ext cx="1764914" cy="2521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6"/>
          <p:cNvSpPr>
            <a:spLocks noGrp="1"/>
          </p:cNvSpPr>
          <p:nvPr>
            <p:ph sz="half" idx="2"/>
          </p:nvPr>
        </p:nvSpPr>
        <p:spPr>
          <a:xfrm>
            <a:off x="2856040" y="1658499"/>
            <a:ext cx="3600000" cy="2520000"/>
          </a:xfrm>
        </p:spPr>
        <p:txBody>
          <a:bodyPr>
            <a:normAutofit/>
          </a:bodyPr>
          <a:lstStyle/>
          <a:p>
            <a:r>
              <a:rPr lang="pt-BR" dirty="0"/>
              <a:t>Capítulo 3</a:t>
            </a:r>
          </a:p>
          <a:p>
            <a:pPr lvl="1"/>
            <a:r>
              <a:rPr lang="pt-BR" dirty="0"/>
              <a:t>Seção 3.4. Engenharia Cognitiva</a:t>
            </a:r>
          </a:p>
          <a:p>
            <a:r>
              <a:rPr lang="pt-BR" dirty="0"/>
              <a:t>Capítulo 10. Métodos de avaliação de IHC 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QPC0016, QXD0221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51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981000" y="4595644"/>
            <a:ext cx="110916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Kong, Nicholas. </a:t>
            </a:r>
            <a:r>
              <a:rPr lang="en-US" sz="2400" i="1" dirty="0"/>
              <a:t>Notes on the gulfs of execution and evaluation from “Direct Manipulation Interfaces”, Hutchins et al.</a:t>
            </a:r>
            <a:r>
              <a:rPr lang="en-US" sz="2400" dirty="0"/>
              <a:t> CS 160 Spring '09 User Interfaces. University of California, Berkeley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>
                <a:hlinkClick r:id="rId3"/>
              </a:rPr>
              <a:t>http://vis.berkeley.edu/courses/cs160-sp09/wiki/images/4/48/GulfClarification.pdf</a:t>
            </a:r>
            <a:endParaRPr lang="pt-BR" sz="2400" dirty="0"/>
          </a:p>
        </p:txBody>
      </p:sp>
      <p:pic>
        <p:nvPicPr>
          <p:cNvPr id="9" name="Picture 2" descr="http://www.elsevier.com.br/site/uploads/imagensTitulo/240620104955_InteracaoHumanoComputador_o_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00" y="1658499"/>
            <a:ext cx="1784999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Conteúdo 6"/>
          <p:cNvSpPr txBox="1">
            <a:spLocks/>
          </p:cNvSpPr>
          <p:nvPr/>
        </p:nvSpPr>
        <p:spPr>
          <a:xfrm>
            <a:off x="8544672" y="1658499"/>
            <a:ext cx="3600000" cy="252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Capítulo 3</a:t>
            </a:r>
          </a:p>
          <a:p>
            <a:pPr lvl="1"/>
            <a:r>
              <a:rPr lang="pt-BR" dirty="0"/>
              <a:t>Seção 3.3. </a:t>
            </a:r>
            <a:r>
              <a:rPr lang="pt-BR"/>
              <a:t>Frameworks cognitivos</a:t>
            </a:r>
            <a:endParaRPr lang="pt-BR" dirty="0"/>
          </a:p>
          <a:p>
            <a:r>
              <a:rPr lang="pt-BR" dirty="0"/>
              <a:t>Capítulo 15. Avaliação: inspeções, dados analíticos e modelos </a:t>
            </a:r>
          </a:p>
        </p:txBody>
      </p:sp>
    </p:spTree>
    <p:extLst>
      <p:ext uri="{BB962C8B-B14F-4D97-AF65-F5344CB8AC3E}">
        <p14:creationId xmlns:p14="http://schemas.microsoft.com/office/powerpoint/2010/main" val="523144279"/>
      </p:ext>
    </p:extLst>
  </p:cSld>
  <p:clrMapOvr>
    <a:masterClrMapping/>
  </p:clrMapOvr>
</p:sld>
</file>

<file path=ppt/theme/theme1.xml><?xml version="1.0" encoding="utf-8"?>
<a:theme xmlns:a="http://schemas.openxmlformats.org/drawingml/2006/main" name="UFC-Quixada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FC-Quixada" id="{F31D0578-B3B1-4B87-B478-3E5D291A18D1}" vid="{328F7558-738F-4A59-A9EE-BDCE7B7018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UFC-Quixada</Template>
  <TotalTime>996</TotalTime>
  <Words>3189</Words>
  <Application>Microsoft Office PowerPoint</Application>
  <PresentationFormat>Widescreen</PresentationFormat>
  <Paragraphs>365</Paragraphs>
  <Slides>51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Comic Sans MS</vt:lpstr>
      <vt:lpstr>UFC-Quixada</vt:lpstr>
      <vt:lpstr> Engenharia cognitiva e percurso cognitivo</vt:lpstr>
      <vt:lpstr>Engenharia cognitiva</vt:lpstr>
      <vt:lpstr>Engenharia Cognitiva</vt:lpstr>
      <vt:lpstr>Engenharia Cognitiva</vt:lpstr>
      <vt:lpstr>Engenharia Cognitiva</vt:lpstr>
      <vt:lpstr>Modelos conceituais</vt:lpstr>
      <vt:lpstr>Modelos conceituais</vt:lpstr>
      <vt:lpstr>Modelos conceituais</vt:lpstr>
      <vt:lpstr>Teoria da ação</vt:lpstr>
      <vt:lpstr>Teoria da ação</vt:lpstr>
      <vt:lpstr>Teoria da ação</vt:lpstr>
      <vt:lpstr>Golfos</vt:lpstr>
      <vt:lpstr>Ciclo de ações</vt:lpstr>
      <vt:lpstr>Ciclo de ações</vt:lpstr>
      <vt:lpstr>Ciclo de ações</vt:lpstr>
      <vt:lpstr>Ciclo de ações</vt:lpstr>
      <vt:lpstr>Etapas da interação usuário-sistema</vt:lpstr>
      <vt:lpstr>Etapas da interação usuário-sistema</vt:lpstr>
      <vt:lpstr>Travessia de golfos</vt:lpstr>
      <vt:lpstr>Distâncias</vt:lpstr>
      <vt:lpstr>Distância semântica</vt:lpstr>
      <vt:lpstr>Distância semântica</vt:lpstr>
      <vt:lpstr>Distância articulatória</vt:lpstr>
      <vt:lpstr>Distância articulatória</vt:lpstr>
      <vt:lpstr>Apresentação do PowerPoint</vt:lpstr>
      <vt:lpstr>Percurso cognitivo</vt:lpstr>
      <vt:lpstr>Percurso Cognitivo</vt:lpstr>
      <vt:lpstr>Percurso Cognitivo</vt:lpstr>
      <vt:lpstr>Apresentação do PowerPoint</vt:lpstr>
      <vt:lpstr>Perguntas</vt:lpstr>
      <vt:lpstr>Perguntas</vt:lpstr>
      <vt:lpstr>Apresentação do PowerPoint</vt:lpstr>
      <vt:lpstr>Coleta e interpretação de dados</vt:lpstr>
      <vt:lpstr>Exemplo</vt:lpstr>
      <vt:lpstr>Apresentação do PowerPoint</vt:lpstr>
      <vt:lpstr>Passo 1  digitar um número inválido</vt:lpstr>
      <vt:lpstr>Passo 1  digitar um número inválido</vt:lpstr>
      <vt:lpstr>Passo 1  digitar um número inválido</vt:lpstr>
      <vt:lpstr>Passo 1  digitar um número inválido</vt:lpstr>
      <vt:lpstr>Passo 1  digitar um número inválido</vt:lpstr>
      <vt:lpstr>Passo 1  digitar um número inválido</vt:lpstr>
      <vt:lpstr>Passo 1  digitar um número inválido</vt:lpstr>
      <vt:lpstr>Passo 1  digitar um número inválido</vt:lpstr>
      <vt:lpstr>Passo 2  apertar o botão “Confirmar”</vt:lpstr>
      <vt:lpstr>Passo 2  apertar o botão “Confirmar”</vt:lpstr>
      <vt:lpstr>Passo 2  apertar o botão “Confirmar”</vt:lpstr>
      <vt:lpstr>Passo 2  apertar o botão “Confirmar”</vt:lpstr>
      <vt:lpstr>Passo 2  apertar o botão “Confirmar”</vt:lpstr>
      <vt:lpstr>Passo 2  apertar o botão “Confirmar”</vt:lpstr>
      <vt:lpstr>Percurso cognitivo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Ingrid</dc:creator>
  <cp:lastModifiedBy>Ingrid Monteiro</cp:lastModifiedBy>
  <cp:revision>30</cp:revision>
  <dcterms:created xsi:type="dcterms:W3CDTF">2015-02-23T12:55:48Z</dcterms:created>
  <dcterms:modified xsi:type="dcterms:W3CDTF">2023-11-20T22:12:40Z</dcterms:modified>
</cp:coreProperties>
</file>